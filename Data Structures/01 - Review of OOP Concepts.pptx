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7" r:id="rId1"/>
  </p:sldMasterIdLst>
  <p:notesMasterIdLst>
    <p:notesMasterId r:id="rId68"/>
  </p:notesMasterIdLst>
  <p:handoutMasterIdLst>
    <p:handoutMasterId r:id="rId69"/>
  </p:handoutMasterIdLst>
  <p:sldIdLst>
    <p:sldId id="298" r:id="rId2"/>
    <p:sldId id="352" r:id="rId3"/>
    <p:sldId id="351" r:id="rId4"/>
    <p:sldId id="326" r:id="rId5"/>
    <p:sldId id="400" r:id="rId6"/>
    <p:sldId id="398" r:id="rId7"/>
    <p:sldId id="331" r:id="rId8"/>
    <p:sldId id="384" r:id="rId9"/>
    <p:sldId id="402" r:id="rId10"/>
    <p:sldId id="335" r:id="rId11"/>
    <p:sldId id="401" r:id="rId12"/>
    <p:sldId id="377" r:id="rId13"/>
    <p:sldId id="350" r:id="rId14"/>
    <p:sldId id="385" r:id="rId15"/>
    <p:sldId id="379" r:id="rId16"/>
    <p:sldId id="380" r:id="rId17"/>
    <p:sldId id="386" r:id="rId18"/>
    <p:sldId id="446" r:id="rId19"/>
    <p:sldId id="357" r:id="rId20"/>
    <p:sldId id="358" r:id="rId21"/>
    <p:sldId id="359" r:id="rId22"/>
    <p:sldId id="360" r:id="rId23"/>
    <p:sldId id="387" r:id="rId24"/>
    <p:sldId id="382" r:id="rId25"/>
    <p:sldId id="530" r:id="rId26"/>
    <p:sldId id="625" r:id="rId27"/>
    <p:sldId id="626" r:id="rId28"/>
    <p:sldId id="736" r:id="rId29"/>
    <p:sldId id="737" r:id="rId30"/>
    <p:sldId id="635" r:id="rId31"/>
    <p:sldId id="636" r:id="rId32"/>
    <p:sldId id="733" r:id="rId33"/>
    <p:sldId id="732" r:id="rId34"/>
    <p:sldId id="734" r:id="rId35"/>
    <p:sldId id="735" r:id="rId36"/>
    <p:sldId id="738" r:id="rId37"/>
    <p:sldId id="739" r:id="rId38"/>
    <p:sldId id="634" r:id="rId39"/>
    <p:sldId id="740" r:id="rId40"/>
    <p:sldId id="746" r:id="rId41"/>
    <p:sldId id="747" r:id="rId42"/>
    <p:sldId id="637" r:id="rId43"/>
    <p:sldId id="383" r:id="rId44"/>
    <p:sldId id="447" r:id="rId45"/>
    <p:sldId id="448" r:id="rId46"/>
    <p:sldId id="355" r:id="rId47"/>
    <p:sldId id="376" r:id="rId48"/>
    <p:sldId id="372" r:id="rId49"/>
    <p:sldId id="373" r:id="rId50"/>
    <p:sldId id="374" r:id="rId51"/>
    <p:sldId id="375" r:id="rId52"/>
    <p:sldId id="389" r:id="rId53"/>
    <p:sldId id="388" r:id="rId54"/>
    <p:sldId id="390" r:id="rId55"/>
    <p:sldId id="340" r:id="rId56"/>
    <p:sldId id="341" r:id="rId57"/>
    <p:sldId id="342" r:id="rId58"/>
    <p:sldId id="343" r:id="rId59"/>
    <p:sldId id="344" r:id="rId60"/>
    <p:sldId id="345" r:id="rId61"/>
    <p:sldId id="346" r:id="rId62"/>
    <p:sldId id="347" r:id="rId63"/>
    <p:sldId id="348" r:id="rId64"/>
    <p:sldId id="396" r:id="rId65"/>
    <p:sldId id="449" r:id="rId66"/>
    <p:sldId id="397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6395" autoAdjust="0"/>
  </p:normalViewPr>
  <p:slideViewPr>
    <p:cSldViewPr>
      <p:cViewPr varScale="1">
        <p:scale>
          <a:sx n="107" d="100"/>
          <a:sy n="107" d="100"/>
        </p:scale>
        <p:origin x="63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49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380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253B50-6A13-41BE-A784-541EBBFCB6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AC73FB-4A03-42FB-8C7E-29788D6503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8D9E3-7A71-4C27-A1F1-FFC525C7D664}" type="datetimeFigureOut">
              <a:rPr lang="en-US" smtClean="0"/>
              <a:t>10/16/2022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F26CE-CFEB-45CC-8312-7B13BDAC33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9F9F5-3811-4C30-8F6B-CE6246047D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D5641-E871-4A36-9ABF-96B0E3F75C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3100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647E8-5163-4A7E-A341-6B1A9D15CEB5}" type="datetimeFigureOut">
              <a:rPr lang="en-US" smtClean="0"/>
              <a:t>10/16/2022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85FA4-59D6-4BA2-BEE0-45EF33BDC1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8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FC1E87-7642-4915-8561-60290D28A87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241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FC1E87-7642-4915-8561-60290D28A87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024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1914F4F-7049-40FA-90C5-318BB0695B2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054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1914F4F-7049-40FA-90C5-318BB0695B2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093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19C35FF-A1D3-4960-B47B-400F14A5356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178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D1E9314-8ED7-4853-BD67-011DD1D0DB0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45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D1E9314-8ED7-4853-BD67-011DD1D0DB0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246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85FA4-59D6-4BA2-BEE0-45EF33BDC1F1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24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1E02F-A6F4-4E94-ABEF-8CED185F1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427" y="2235200"/>
            <a:ext cx="10571147" cy="238760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43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7ABA-8FD5-476F-88FC-1662AF6E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FD9B8-C689-4A5C-91AE-3BB63A3DC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2713" indent="-112713">
              <a:spcBef>
                <a:spcPts val="22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95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1E02F-A6F4-4E94-ABEF-8CED185F1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427" y="2235200"/>
            <a:ext cx="10571147" cy="2387600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7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64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6636D-A36B-48EC-A040-0FEB85568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758952"/>
          </a:xfrm>
          <a:prstGeom prst="rect">
            <a:avLst/>
          </a:prstGeom>
        </p:spPr>
        <p:txBody>
          <a:bodyPr vert="horz" lIns="18288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C139F-E175-4BEE-ADEF-E8CC37FEA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41248"/>
            <a:ext cx="12188952" cy="5577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Background Picture">
            <a:extLst>
              <a:ext uri="{FF2B5EF4-FFF2-40B4-BE49-F238E27FC236}">
                <a16:creationId xmlns:a16="http://schemas.microsoft.com/office/drawing/2014/main" id="{53680A1C-41B0-4A74-BF08-ADAC967F543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00B0F0">
                <a:tint val="45000"/>
                <a:satMod val="400000"/>
              </a:srgbClr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01"/>
          <a:stretch/>
        </p:blipFill>
        <p:spPr>
          <a:xfrm>
            <a:off x="0" y="6415828"/>
            <a:ext cx="12192000" cy="4421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936F2-8681-4EB6-9696-9A37A1958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9500" y="6455981"/>
            <a:ext cx="800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fld id="{680D1FAC-921E-44C8-BF24-AF5421F6139E}" type="slidenum">
              <a:rPr lang="en-US" smtClean="0"/>
              <a:pPr/>
              <a:t>‹#›</a:t>
            </a:fld>
            <a:r>
              <a:rPr lang="en-US" dirty="0"/>
              <a:t> / 32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0A68A7C-4232-403B-B5BA-82968F3E435E}"/>
              </a:ext>
            </a:extLst>
          </p:cNvPr>
          <p:cNvSpPr txBox="1">
            <a:spLocks/>
          </p:cNvSpPr>
          <p:nvPr userDrawn="1"/>
        </p:nvSpPr>
        <p:spPr>
          <a:xfrm>
            <a:off x="11125200" y="6473611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A18D36-CC12-4BB4-A137-80F96566F1C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109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 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Object-Oriented Programming Concepts Review</a:t>
            </a:r>
          </a:p>
        </p:txBody>
      </p:sp>
    </p:spTree>
    <p:extLst>
      <p:ext uri="{BB962C8B-B14F-4D97-AF65-F5344CB8AC3E}">
        <p14:creationId xmlns:p14="http://schemas.microsoft.com/office/powerpoint/2010/main" val="1056100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64515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Object-Oriented Programming Concepts</a:t>
            </a:r>
          </a:p>
          <a:p>
            <a:r>
              <a:rPr lang="en-US" altLang="en-US" dirty="0"/>
              <a:t>OOP Concept 1: Encapsulation &amp; Information Hiding</a:t>
            </a:r>
          </a:p>
          <a:p>
            <a:r>
              <a:rPr lang="en-US" altLang="en-US" dirty="0"/>
              <a:t>OOP Concept 2: Abstraction</a:t>
            </a:r>
          </a:p>
          <a:p>
            <a:r>
              <a:rPr lang="en-US" altLang="en-US" dirty="0"/>
              <a:t>OOP Concept 3: Inheritance</a:t>
            </a:r>
          </a:p>
          <a:p>
            <a:r>
              <a:rPr lang="en-US" altLang="en-US" dirty="0"/>
              <a:t>OOP Concept 4: Polymorphism</a:t>
            </a:r>
          </a:p>
          <a:p>
            <a:r>
              <a:rPr lang="en-US" altLang="en-US" dirty="0"/>
              <a:t>Review of Variables</a:t>
            </a:r>
          </a:p>
          <a:p>
            <a:r>
              <a:rPr lang="en-US" altLang="en-US" dirty="0"/>
              <a:t>Arrays</a:t>
            </a:r>
          </a:p>
          <a:p>
            <a:r>
              <a:rPr lang="en-US" altLang="en-US" dirty="0"/>
              <a:t>The Software Development Method</a:t>
            </a:r>
          </a:p>
          <a:p>
            <a:r>
              <a:rPr lang="en-US" altLang="en-US" dirty="0"/>
              <a:t>Structuring Your Code for this Course</a:t>
            </a:r>
          </a:p>
        </p:txBody>
      </p:sp>
    </p:spTree>
    <p:extLst>
      <p:ext uri="{BB962C8B-B14F-4D97-AF65-F5344CB8AC3E}">
        <p14:creationId xmlns:p14="http://schemas.microsoft.com/office/powerpoint/2010/main" val="376354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Object-Oriented Programming Concepts</a:t>
            </a:r>
          </a:p>
        </p:txBody>
      </p:sp>
    </p:spTree>
    <p:extLst>
      <p:ext uri="{BB962C8B-B14F-4D97-AF65-F5344CB8AC3E}">
        <p14:creationId xmlns:p14="http://schemas.microsoft.com/office/powerpoint/2010/main" val="3011117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= Reusable Software Component</a:t>
            </a:r>
          </a:p>
        </p:txBody>
      </p:sp>
      <p:sp>
        <p:nvSpPr>
          <p:cNvPr id="64515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Often an abstraction of a “thing”, like a car, a book, a student, an item in inventory</a:t>
            </a:r>
          </a:p>
          <a:p>
            <a:pPr lvl="0"/>
            <a:r>
              <a:rPr lang="en-US" dirty="0"/>
              <a:t>A class becomes a </a:t>
            </a:r>
            <a:r>
              <a:rPr lang="en-US" b="1" dirty="0"/>
              <a:t>new data type</a:t>
            </a:r>
            <a:r>
              <a:rPr lang="en-US" dirty="0"/>
              <a:t> that can be used in multiple places, wherever it is needed</a:t>
            </a:r>
            <a:endParaRPr lang="en-US" b="1" dirty="0"/>
          </a:p>
          <a:p>
            <a:r>
              <a:rPr lang="en-US" dirty="0"/>
              <a:t>Object-oriented languages are </a:t>
            </a:r>
            <a:r>
              <a:rPr lang="en-US" b="1" dirty="0"/>
              <a:t>extensible</a:t>
            </a:r>
          </a:p>
        </p:txBody>
      </p:sp>
    </p:spTree>
    <p:extLst>
      <p:ext uri="{BB962C8B-B14F-4D97-AF65-F5344CB8AC3E}">
        <p14:creationId xmlns:p14="http://schemas.microsoft.com/office/powerpoint/2010/main" val="153861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D27A6-E210-44A2-93D8-AB6E594D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068E3-745B-47FA-B2A0-DFB7F1BCF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Attributes</a:t>
            </a:r>
            <a:r>
              <a:rPr lang="en-US" dirty="0"/>
              <a:t> of a class</a:t>
            </a:r>
          </a:p>
          <a:p>
            <a:pPr lvl="1"/>
            <a:r>
              <a:rPr lang="en-US" dirty="0"/>
              <a:t>Properties of a class, like color, ISBN, name</a:t>
            </a:r>
          </a:p>
          <a:p>
            <a:pPr lvl="1"/>
            <a:r>
              <a:rPr lang="en-US" dirty="0"/>
              <a:t>Defined with variables called </a:t>
            </a:r>
            <a:r>
              <a:rPr lang="en-US" b="1" dirty="0"/>
              <a:t>data members </a:t>
            </a:r>
            <a:r>
              <a:rPr lang="en-US" dirty="0"/>
              <a:t>(C++) or </a:t>
            </a:r>
            <a:r>
              <a:rPr lang="en-US" b="1" dirty="0"/>
              <a:t>fields</a:t>
            </a:r>
            <a:r>
              <a:rPr lang="en-US" dirty="0"/>
              <a:t> (Java)</a:t>
            </a:r>
          </a:p>
          <a:p>
            <a:pPr lvl="0"/>
            <a:r>
              <a:rPr lang="en-US" b="1" dirty="0"/>
              <a:t>Behaviors</a:t>
            </a:r>
            <a:r>
              <a:rPr lang="en-US" dirty="0"/>
              <a:t> of a class</a:t>
            </a:r>
          </a:p>
          <a:p>
            <a:pPr lvl="1"/>
            <a:r>
              <a:rPr lang="en-US" dirty="0"/>
              <a:t>What the class can do, or have done to it</a:t>
            </a:r>
          </a:p>
          <a:p>
            <a:pPr lvl="1"/>
            <a:r>
              <a:rPr lang="en-US" dirty="0"/>
              <a:t>Defined with </a:t>
            </a:r>
            <a:r>
              <a:rPr lang="en-US" b="1" dirty="0"/>
              <a:t>member functions</a:t>
            </a:r>
            <a:r>
              <a:rPr lang="en-US" dirty="0"/>
              <a:t> (C++) or </a:t>
            </a:r>
            <a:r>
              <a:rPr lang="en-US" b="1" dirty="0"/>
              <a:t>methods</a:t>
            </a:r>
            <a:r>
              <a:rPr lang="en-US" dirty="0"/>
              <a:t> (Java)</a:t>
            </a:r>
          </a:p>
          <a:p>
            <a:pPr lvl="1"/>
            <a:r>
              <a:rPr lang="en-US" b="1" dirty="0"/>
              <a:t>Constructor</a:t>
            </a:r>
            <a:r>
              <a:rPr lang="en-US" dirty="0"/>
              <a:t> – special function / method that provides custom initialization for the class attributes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981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Class and Object</a:t>
            </a:r>
          </a:p>
        </p:txBody>
      </p:sp>
      <p:sp>
        <p:nvSpPr>
          <p:cNvPr id="64515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Class</a:t>
            </a:r>
          </a:p>
          <a:p>
            <a:pPr lvl="1"/>
            <a:r>
              <a:rPr lang="en-US" altLang="en-US" dirty="0"/>
              <a:t>The source code</a:t>
            </a:r>
          </a:p>
          <a:p>
            <a:pPr lvl="1"/>
            <a:r>
              <a:rPr lang="en-US" altLang="en-US" dirty="0"/>
              <a:t>The blueprint for creating objects</a:t>
            </a:r>
          </a:p>
          <a:p>
            <a:r>
              <a:rPr lang="en-US" altLang="en-US" b="1" dirty="0"/>
              <a:t>Object</a:t>
            </a:r>
          </a:p>
          <a:p>
            <a:pPr lvl="1"/>
            <a:r>
              <a:rPr lang="en-US" altLang="en-US" dirty="0"/>
              <a:t>Only exists while a program is executing, and the class code has been called appropriately</a:t>
            </a:r>
          </a:p>
          <a:p>
            <a:pPr lvl="1"/>
            <a:r>
              <a:rPr lang="en-US" altLang="en-US" dirty="0"/>
              <a:t>We say an object has been </a:t>
            </a:r>
            <a:r>
              <a:rPr lang="en-US" altLang="en-US" b="1" dirty="0"/>
              <a:t>instantiated</a:t>
            </a:r>
            <a:r>
              <a:rPr lang="en-US" altLang="en-US" dirty="0"/>
              <a:t> – it exists as an </a:t>
            </a:r>
            <a:r>
              <a:rPr lang="en-US" altLang="en-US" b="1" dirty="0"/>
              <a:t>instance of the class</a:t>
            </a:r>
          </a:p>
          <a:p>
            <a:r>
              <a:rPr lang="en-US" altLang="en-US" dirty="0"/>
              <a:t>We often use the terms interchangeably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1130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Reuse</a:t>
            </a:r>
          </a:p>
        </p:txBody>
      </p:sp>
      <p:sp>
        <p:nvSpPr>
          <p:cNvPr id="57347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Reuse of existing classes when building new classes and programs saves time and effort. </a:t>
            </a:r>
          </a:p>
          <a:p>
            <a:r>
              <a:rPr lang="en-US" altLang="en-US" dirty="0"/>
              <a:t>Reuse also helps you build more reliable and effective systems</a:t>
            </a:r>
          </a:p>
          <a:p>
            <a:pPr lvl="1"/>
            <a:r>
              <a:rPr lang="en-US" altLang="en-US" dirty="0"/>
              <a:t>Existing classes and components have been tested, debugged and </a:t>
            </a:r>
            <a:r>
              <a:rPr lang="en-US" altLang="en-US"/>
              <a:t>performance tuned </a:t>
            </a:r>
            <a:endParaRPr lang="en-US" altLang="en-US" dirty="0"/>
          </a:p>
          <a:p>
            <a:r>
              <a:rPr lang="en-US" altLang="en-US" dirty="0"/>
              <a:t>Reusable classes are crucial to software development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597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OOP Concept 1: Encapsulation &amp; Information Hiding </a:t>
            </a:r>
          </a:p>
        </p:txBody>
      </p:sp>
    </p:spTree>
    <p:extLst>
      <p:ext uri="{BB962C8B-B14F-4D97-AF65-F5344CB8AC3E}">
        <p14:creationId xmlns:p14="http://schemas.microsoft.com/office/powerpoint/2010/main" val="2023397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Encapsulation</a:t>
            </a:r>
          </a:p>
          <a:p>
            <a:pPr lvl="1"/>
            <a:r>
              <a:rPr lang="en-US" dirty="0"/>
              <a:t>Attributes and behaviors within a class are </a:t>
            </a:r>
            <a:r>
              <a:rPr lang="en-US" b="1" dirty="0"/>
              <a:t>related</a:t>
            </a:r>
          </a:p>
          <a:p>
            <a:pPr lvl="1"/>
            <a:r>
              <a:rPr lang="en-US" dirty="0"/>
              <a:t>Classes should contain only what is needed and nothing more</a:t>
            </a:r>
          </a:p>
          <a:p>
            <a:r>
              <a:rPr lang="en-US" dirty="0"/>
              <a:t>Functions / methods in a class can access the class variables </a:t>
            </a:r>
            <a:r>
              <a:rPr lang="en-US" b="1" dirty="0"/>
              <a:t>directly</a:t>
            </a:r>
          </a:p>
          <a:p>
            <a:pPr lvl="1"/>
            <a:r>
              <a:rPr lang="en-US" dirty="0"/>
              <a:t>Outside code is generally prevented from doing so</a:t>
            </a:r>
          </a:p>
          <a:p>
            <a:pPr lvl="1"/>
            <a:r>
              <a:rPr lang="en-US" dirty="0"/>
              <a:t>Implementation details are hidden within the objects themselves</a:t>
            </a:r>
          </a:p>
        </p:txBody>
      </p:sp>
    </p:spTree>
    <p:extLst>
      <p:ext uri="{BB962C8B-B14F-4D97-AF65-F5344CB8AC3E}">
        <p14:creationId xmlns:p14="http://schemas.microsoft.com/office/powerpoint/2010/main" val="183788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&amp; Information Hiding 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/ methods in a class can access the class variables </a:t>
            </a:r>
            <a:r>
              <a:rPr lang="en-US" b="1" dirty="0"/>
              <a:t>directly</a:t>
            </a:r>
          </a:p>
          <a:p>
            <a:pPr lvl="1"/>
            <a:r>
              <a:rPr lang="en-US" dirty="0"/>
              <a:t>Outside code is generally prevented from doing so</a:t>
            </a:r>
          </a:p>
          <a:p>
            <a:pPr lvl="1"/>
            <a:r>
              <a:rPr lang="en-US" dirty="0"/>
              <a:t>Implementation details are hidden within the objects themselves</a:t>
            </a:r>
          </a:p>
          <a:p>
            <a:r>
              <a:rPr lang="en-US" dirty="0"/>
              <a:t>Each object </a:t>
            </a:r>
            <a:r>
              <a:rPr lang="en-US" b="1" dirty="0"/>
              <a:t>keeps its state private </a:t>
            </a:r>
            <a:r>
              <a:rPr lang="en-US" dirty="0"/>
              <a:t>via:</a:t>
            </a:r>
          </a:p>
          <a:p>
            <a:pPr lvl="1"/>
            <a:r>
              <a:rPr lang="en-US" dirty="0"/>
              <a:t>Access modifiers</a:t>
            </a:r>
          </a:p>
          <a:p>
            <a:pPr lvl="1"/>
            <a:r>
              <a:rPr lang="en-US" dirty="0"/>
              <a:t>Special functions / methods that allow controlled access to class variables</a:t>
            </a:r>
          </a:p>
        </p:txBody>
      </p:sp>
    </p:spTree>
    <p:extLst>
      <p:ext uri="{BB962C8B-B14F-4D97-AF65-F5344CB8AC3E}">
        <p14:creationId xmlns:p14="http://schemas.microsoft.com/office/powerpoint/2010/main" val="1626891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public</a:t>
            </a:r>
          </a:p>
          <a:p>
            <a:pPr lvl="1"/>
            <a:r>
              <a:rPr lang="en-US" dirty="0"/>
              <a:t>Any outside code with a reference to the object can access public components of the class (functions / methods or variables)</a:t>
            </a:r>
          </a:p>
          <a:p>
            <a:pPr lvl="1"/>
            <a:r>
              <a:rPr lang="en-US" dirty="0"/>
              <a:t>Some functions / methods often public</a:t>
            </a:r>
          </a:p>
          <a:p>
            <a:r>
              <a:rPr lang="en-US" b="1" dirty="0"/>
              <a:t>private</a:t>
            </a:r>
          </a:p>
          <a:p>
            <a:pPr lvl="1"/>
            <a:r>
              <a:rPr lang="en-US" dirty="0"/>
              <a:t>No code outside the class can access private components</a:t>
            </a:r>
          </a:p>
          <a:p>
            <a:pPr lvl="1"/>
            <a:r>
              <a:rPr lang="en-US" dirty="0"/>
              <a:t>All data members / fields should be declared private</a:t>
            </a:r>
          </a:p>
          <a:p>
            <a:pPr lvl="1"/>
            <a:r>
              <a:rPr lang="en-US" dirty="0"/>
              <a:t>Some functions / methods often private</a:t>
            </a:r>
          </a:p>
          <a:p>
            <a:r>
              <a:rPr lang="en-US" b="1" dirty="0"/>
              <a:t>protected</a:t>
            </a:r>
          </a:p>
          <a:p>
            <a:pPr lvl="1"/>
            <a:r>
              <a:rPr lang="en-US" dirty="0"/>
              <a:t>Middle ground, depends on location / definition of calling code</a:t>
            </a:r>
          </a:p>
        </p:txBody>
      </p:sp>
    </p:spTree>
    <p:extLst>
      <p:ext uri="{BB962C8B-B14F-4D97-AF65-F5344CB8AC3E}">
        <p14:creationId xmlns:p14="http://schemas.microsoft.com/office/powerpoint/2010/main" val="4074575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and Get Functions / Methods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objects don’t have direct access to an object’s state</a:t>
            </a:r>
          </a:p>
          <a:p>
            <a:pPr lvl="1"/>
            <a:r>
              <a:rPr lang="en-US" dirty="0"/>
              <a:t>To communicate with an object, use appropriate function / method</a:t>
            </a:r>
          </a:p>
          <a:p>
            <a:r>
              <a:rPr lang="en-US" b="1" dirty="0"/>
              <a:t>Set</a:t>
            </a:r>
            <a:r>
              <a:rPr lang="en-US" dirty="0"/>
              <a:t> </a:t>
            </a:r>
            <a:r>
              <a:rPr lang="en-US" b="1" dirty="0"/>
              <a:t>function / method</a:t>
            </a:r>
          </a:p>
          <a:p>
            <a:pPr lvl="1"/>
            <a:r>
              <a:rPr lang="en-US" dirty="0"/>
              <a:t>Performs controlled update of a class data member / field</a:t>
            </a:r>
          </a:p>
          <a:p>
            <a:pPr lvl="1"/>
            <a:r>
              <a:rPr lang="en-US" dirty="0"/>
              <a:t>May contain validation</a:t>
            </a:r>
          </a:p>
          <a:p>
            <a:pPr lvl="1"/>
            <a:r>
              <a:rPr lang="en-US" dirty="0"/>
              <a:t>At least one parameter; usually void return value</a:t>
            </a:r>
          </a:p>
          <a:p>
            <a:r>
              <a:rPr lang="en-US" b="1" dirty="0"/>
              <a:t>Get</a:t>
            </a:r>
            <a:r>
              <a:rPr lang="en-US" dirty="0"/>
              <a:t> </a:t>
            </a:r>
            <a:r>
              <a:rPr lang="en-US" b="1" dirty="0"/>
              <a:t>function / method</a:t>
            </a:r>
          </a:p>
          <a:p>
            <a:pPr lvl="1"/>
            <a:r>
              <a:rPr lang="en-US" dirty="0"/>
              <a:t>Retrieves the value of a data member / field</a:t>
            </a:r>
          </a:p>
          <a:p>
            <a:pPr lvl="1"/>
            <a:r>
              <a:rPr lang="en-US" dirty="0"/>
              <a:t>No parameters; return value matches type of data member / field</a:t>
            </a:r>
          </a:p>
          <a:p>
            <a:r>
              <a:rPr lang="en-US" dirty="0"/>
              <a:t>Both sets and gets are usually declared public</a:t>
            </a:r>
          </a:p>
        </p:txBody>
      </p:sp>
    </p:spTree>
    <p:extLst>
      <p:ext uri="{BB962C8B-B14F-4D97-AF65-F5344CB8AC3E}">
        <p14:creationId xmlns:p14="http://schemas.microsoft.com/office/powerpoint/2010/main" val="4079689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Encapsulation and information hiding are crucial to good software engineering; and facilitate </a:t>
            </a:r>
            <a:r>
              <a:rPr lang="en-US" b="1" dirty="0"/>
              <a:t>code refactoring </a:t>
            </a:r>
          </a:p>
          <a:p>
            <a:r>
              <a:rPr lang="en-US" b="1" dirty="0"/>
              <a:t>Refactoring</a:t>
            </a:r>
          </a:p>
          <a:p>
            <a:pPr lvl="1"/>
            <a:r>
              <a:rPr lang="en-US" dirty="0"/>
              <a:t>Restructuring existing class without changing its external-facing code</a:t>
            </a:r>
          </a:p>
          <a:p>
            <a:r>
              <a:rPr lang="en-US" dirty="0"/>
              <a:t>Our semester-long project will include require you to do this</a:t>
            </a:r>
          </a:p>
        </p:txBody>
      </p:sp>
    </p:spTree>
    <p:extLst>
      <p:ext uri="{BB962C8B-B14F-4D97-AF65-F5344CB8AC3E}">
        <p14:creationId xmlns:p14="http://schemas.microsoft.com/office/powerpoint/2010/main" val="1211474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OOP Concept 2: Abstraction</a:t>
            </a:r>
          </a:p>
        </p:txBody>
      </p:sp>
    </p:spTree>
    <p:extLst>
      <p:ext uri="{BB962C8B-B14F-4D97-AF65-F5344CB8AC3E}">
        <p14:creationId xmlns:p14="http://schemas.microsoft.com/office/powerpoint/2010/main" val="3443324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Concept 2: Abstraction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of modeling something by extracting essential variables and their relationships</a:t>
            </a:r>
          </a:p>
          <a:p>
            <a:r>
              <a:rPr lang="en-US" dirty="0"/>
              <a:t>“Something” could be a process, a collection of data, a problem to solve, etc.</a:t>
            </a:r>
          </a:p>
          <a:p>
            <a:r>
              <a:rPr lang="en-US" dirty="0"/>
              <a:t>Natural extension of encapsulation</a:t>
            </a:r>
          </a:p>
          <a:p>
            <a:r>
              <a:rPr lang="en-US" dirty="0"/>
              <a:t>Applying abstraction means that each object should only expose a high-level mechanism for using it.</a:t>
            </a:r>
          </a:p>
          <a:p>
            <a:r>
              <a:rPr lang="en-US" dirty="0"/>
              <a:t>Internal implementation details are hidden</a:t>
            </a:r>
          </a:p>
          <a:p>
            <a:r>
              <a:rPr lang="en-US" dirty="0"/>
              <a:t>Only operations relevant to other objects should be available</a:t>
            </a:r>
          </a:p>
        </p:txBody>
      </p:sp>
    </p:spTree>
    <p:extLst>
      <p:ext uri="{BB962C8B-B14F-4D97-AF65-F5344CB8AC3E}">
        <p14:creationId xmlns:p14="http://schemas.microsoft.com/office/powerpoint/2010/main" val="3551258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Concept 2: Abstraction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your phone…</a:t>
            </a:r>
          </a:p>
          <a:p>
            <a:r>
              <a:rPr lang="en-US" dirty="0"/>
              <a:t>How do you interact with it?</a:t>
            </a:r>
          </a:p>
          <a:p>
            <a:r>
              <a:rPr lang="en-US" dirty="0"/>
              <a:t>If you needed to use another type of phone, could you figure out how to use it?</a:t>
            </a:r>
          </a:p>
          <a:p>
            <a:r>
              <a:rPr lang="en-US" dirty="0"/>
              <a:t>Interface is similar, but how they work “under the hood” may be very different – but do you as the user need to know that?</a:t>
            </a:r>
          </a:p>
          <a:p>
            <a:r>
              <a:rPr lang="en-US" dirty="0"/>
              <a:t>Implementation changes (e.g. a software update) rarely affect the abstraction you use</a:t>
            </a:r>
          </a:p>
          <a:p>
            <a:r>
              <a:rPr lang="en-US" dirty="0"/>
              <a:t>Consider also: email, ATMs, cars, game controllers</a:t>
            </a:r>
          </a:p>
        </p:txBody>
      </p:sp>
    </p:spTree>
    <p:extLst>
      <p:ext uri="{BB962C8B-B14F-4D97-AF65-F5344CB8AC3E}">
        <p14:creationId xmlns:p14="http://schemas.microsoft.com/office/powerpoint/2010/main" val="151730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OOP Concept 3: Inheritance</a:t>
            </a:r>
          </a:p>
        </p:txBody>
      </p:sp>
    </p:spTree>
    <p:extLst>
      <p:ext uri="{BB962C8B-B14F-4D97-AF65-F5344CB8AC3E}">
        <p14:creationId xmlns:p14="http://schemas.microsoft.com/office/powerpoint/2010/main" val="2660016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758952"/>
          </a:xfrm>
        </p:spPr>
        <p:txBody>
          <a:bodyPr/>
          <a:lstStyle/>
          <a:p>
            <a:r>
              <a:rPr lang="en-US" dirty="0"/>
              <a:t>Inheritance is Software Reuse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idx="1"/>
          </p:nvPr>
        </p:nvSpPr>
        <p:spPr>
          <a:xfrm>
            <a:off x="0" y="841248"/>
            <a:ext cx="12188952" cy="5577840"/>
          </a:xfrm>
        </p:spPr>
        <p:txBody>
          <a:bodyPr>
            <a:normAutofit/>
          </a:bodyPr>
          <a:lstStyle/>
          <a:p>
            <a:r>
              <a:rPr lang="en-US" dirty="0"/>
              <a:t>Classes are often very similar, and may share common logic but aren’t exactly the same</a:t>
            </a:r>
          </a:p>
          <a:p>
            <a:r>
              <a:rPr lang="en-US" dirty="0"/>
              <a:t>A new class can be created by:</a:t>
            </a:r>
          </a:p>
          <a:p>
            <a:pPr lvl="1"/>
            <a:r>
              <a:rPr lang="en-US" dirty="0"/>
              <a:t>Using an existing class, and </a:t>
            </a:r>
          </a:p>
          <a:p>
            <a:pPr lvl="1"/>
            <a:r>
              <a:rPr lang="en-US" dirty="0"/>
              <a:t>Adding to it with new or modified properties and functionality</a:t>
            </a:r>
          </a:p>
          <a:p>
            <a:r>
              <a:rPr lang="en-US" dirty="0"/>
              <a:t>The new class absorbs the characteristics of an existing class, and customizes or adds unique characteristics</a:t>
            </a:r>
          </a:p>
          <a:p>
            <a:r>
              <a:rPr lang="en-US" dirty="0"/>
              <a:t>Existing code can be reused without being rewritten or copied in more than one place</a:t>
            </a:r>
          </a:p>
        </p:txBody>
      </p:sp>
    </p:spTree>
    <p:extLst>
      <p:ext uri="{BB962C8B-B14F-4D97-AF65-F5344CB8AC3E}">
        <p14:creationId xmlns:p14="http://schemas.microsoft.com/office/powerpoint/2010/main" val="2160343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Inheritance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save time </a:t>
            </a:r>
          </a:p>
          <a:p>
            <a:pPr lvl="1"/>
            <a:r>
              <a:rPr lang="en-US" dirty="0"/>
              <a:t>By basing new classes on existing proven and debugged classes</a:t>
            </a:r>
          </a:p>
          <a:p>
            <a:r>
              <a:rPr lang="en-US" dirty="0"/>
              <a:t>Increases likelihood that system will be implemented and maintained effectively</a:t>
            </a:r>
          </a:p>
        </p:txBody>
      </p:sp>
    </p:spTree>
    <p:extLst>
      <p:ext uri="{BB962C8B-B14F-4D97-AF65-F5344CB8AC3E}">
        <p14:creationId xmlns:p14="http://schemas.microsoft.com/office/powerpoint/2010/main" val="173910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New Class using Inheritance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Designate that the new class should inherit from an existing class</a:t>
            </a:r>
          </a:p>
          <a:p>
            <a:r>
              <a:rPr lang="en-US" dirty="0"/>
              <a:t>Existing class is the</a:t>
            </a:r>
            <a:r>
              <a:rPr lang="en-US" b="1" dirty="0"/>
              <a:t> base class </a:t>
            </a:r>
            <a:r>
              <a:rPr lang="en-US" dirty="0"/>
              <a:t>(C++) / </a:t>
            </a:r>
            <a:r>
              <a:rPr lang="en-US" b="1" dirty="0"/>
              <a:t>superclass</a:t>
            </a:r>
            <a:r>
              <a:rPr lang="en-US" dirty="0"/>
              <a:t> (Java)</a:t>
            </a:r>
          </a:p>
          <a:p>
            <a:r>
              <a:rPr lang="en-US" dirty="0"/>
              <a:t>New class is the</a:t>
            </a:r>
            <a:r>
              <a:rPr lang="en-US" b="1" dirty="0"/>
              <a:t> derived class </a:t>
            </a:r>
            <a:r>
              <a:rPr lang="en-US" dirty="0"/>
              <a:t>(C++) / </a:t>
            </a:r>
            <a:r>
              <a:rPr lang="en-US" b="1" dirty="0"/>
              <a:t>subclass</a:t>
            </a:r>
            <a:r>
              <a:rPr lang="en-US" dirty="0"/>
              <a:t> (Java)</a:t>
            </a:r>
          </a:p>
        </p:txBody>
      </p:sp>
    </p:spTree>
    <p:extLst>
      <p:ext uri="{BB962C8B-B14F-4D97-AF65-F5344CB8AC3E}">
        <p14:creationId xmlns:p14="http://schemas.microsoft.com/office/powerpoint/2010/main" val="865093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Derived Class / Subclass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add its own attributes and behaviors</a:t>
            </a:r>
          </a:p>
          <a:p>
            <a:r>
              <a:rPr lang="en-US" dirty="0"/>
              <a:t>Is more specific than its parent class</a:t>
            </a:r>
          </a:p>
          <a:p>
            <a:pPr lvl="1"/>
            <a:r>
              <a:rPr lang="en-US" dirty="0"/>
              <a:t>Represents more specialized group of objects</a:t>
            </a:r>
          </a:p>
          <a:p>
            <a:r>
              <a:rPr lang="en-US" dirty="0"/>
              <a:t>Can be a parent class of future child classes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4000" dirty="0"/>
              <a:t>Inheritance is specialization</a:t>
            </a:r>
          </a:p>
        </p:txBody>
      </p:sp>
    </p:spTree>
    <p:extLst>
      <p:ext uri="{BB962C8B-B14F-4D97-AF65-F5344CB8AC3E}">
        <p14:creationId xmlns:p14="http://schemas.microsoft.com/office/powerpoint/2010/main" val="552465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between Classes</a:t>
            </a:r>
          </a:p>
        </p:txBody>
      </p:sp>
      <p:sp>
        <p:nvSpPr>
          <p:cNvPr id="16387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Is-a relationship represents inheritance</a:t>
            </a:r>
          </a:p>
          <a:p>
            <a:pPr lvl="1"/>
            <a:r>
              <a:rPr lang="en-US" dirty="0"/>
              <a:t>Object of a subclass / derived class can also be treated as an object of its super / base class </a:t>
            </a:r>
          </a:p>
          <a:p>
            <a:r>
              <a:rPr lang="en-US" b="1" dirty="0"/>
              <a:t>Has-a relationship represents composition</a:t>
            </a:r>
          </a:p>
          <a:p>
            <a:pPr lvl="1"/>
            <a:r>
              <a:rPr lang="en-US" dirty="0"/>
              <a:t>Object contains references to other objects</a:t>
            </a:r>
          </a:p>
          <a:p>
            <a:pPr lvl="1"/>
            <a:r>
              <a:rPr lang="en-US" dirty="0"/>
              <a:t>In fact, objects can contain references to objects of their own type too…</a:t>
            </a:r>
          </a:p>
        </p:txBody>
      </p:sp>
    </p:spTree>
    <p:extLst>
      <p:ext uri="{BB962C8B-B14F-4D97-AF65-F5344CB8AC3E}">
        <p14:creationId xmlns:p14="http://schemas.microsoft.com/office/powerpoint/2010/main" val="3685468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OOP Concept 4: Polymorphism</a:t>
            </a:r>
          </a:p>
        </p:txBody>
      </p:sp>
    </p:spTree>
    <p:extLst>
      <p:ext uri="{BB962C8B-B14F-4D97-AF65-F5344CB8AC3E}">
        <p14:creationId xmlns:p14="http://schemas.microsoft.com/office/powerpoint/2010/main" val="320173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we need to process objects as a group that are related via inheritance</a:t>
            </a:r>
          </a:p>
          <a:p>
            <a:r>
              <a:rPr lang="en-US" dirty="0">
                <a:latin typeface="+mn-lt"/>
              </a:rPr>
              <a:t>In a driver program, we create a variable that may refer to </a:t>
            </a:r>
            <a:r>
              <a:rPr lang="en-US" b="1" dirty="0">
                <a:latin typeface="+mn-lt"/>
              </a:rPr>
              <a:t>any</a:t>
            </a:r>
            <a:r>
              <a:rPr lang="en-US" dirty="0">
                <a:latin typeface="+mn-lt"/>
              </a:rPr>
              <a:t> of the classes in the inheritance hierarchy</a:t>
            </a:r>
          </a:p>
          <a:p>
            <a:r>
              <a:rPr lang="en-US" dirty="0">
                <a:latin typeface="+mn-lt"/>
              </a:rPr>
              <a:t>This is the idea of </a:t>
            </a:r>
            <a:r>
              <a:rPr lang="en-US" b="1" dirty="0">
                <a:latin typeface="+mn-lt"/>
              </a:rPr>
              <a:t>polymorphism</a:t>
            </a:r>
          </a:p>
          <a:p>
            <a:r>
              <a:rPr lang="en-US" dirty="0"/>
              <a:t>When each object is processed, the appropriate functionality in the child class is automatically used</a:t>
            </a:r>
          </a:p>
          <a:p>
            <a:r>
              <a:rPr lang="en-US" dirty="0"/>
              <a:t>Each object knows how to respond to the same method call</a:t>
            </a:r>
          </a:p>
        </p:txBody>
      </p:sp>
    </p:spTree>
    <p:extLst>
      <p:ext uri="{BB962C8B-B14F-4D97-AF65-F5344CB8AC3E}">
        <p14:creationId xmlns:p14="http://schemas.microsoft.com/office/powerpoint/2010/main" val="2231997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427" y="2235200"/>
            <a:ext cx="10571147" cy="2387600"/>
          </a:xfrm>
        </p:spPr>
        <p:txBody>
          <a:bodyPr/>
          <a:lstStyle/>
          <a:p>
            <a:r>
              <a:rPr lang="en-US" dirty="0"/>
              <a:t>Review of Variables</a:t>
            </a:r>
          </a:p>
        </p:txBody>
      </p:sp>
    </p:spTree>
    <p:extLst>
      <p:ext uri="{BB962C8B-B14F-4D97-AF65-F5344CB8AC3E}">
        <p14:creationId xmlns:p14="http://schemas.microsoft.com/office/powerpoint/2010/main" val="2921229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a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name for a memory cell (or groups of cells)</a:t>
            </a:r>
          </a:p>
          <a:p>
            <a:r>
              <a:rPr lang="en-US" dirty="0"/>
              <a:t>We usually just use the term “variable” when we really mean “the memory cell referred to by this variable name”</a:t>
            </a:r>
          </a:p>
          <a:p>
            <a:endParaRPr lang="en-US" dirty="0"/>
          </a:p>
          <a:p>
            <a:r>
              <a:rPr lang="en-US" dirty="0"/>
              <a:t>What kind of information can be stored in a variable?</a:t>
            </a:r>
          </a:p>
          <a:p>
            <a:pPr lvl="1"/>
            <a:r>
              <a:rPr lang="en-US" dirty="0"/>
              <a:t>aka, a memory cell?</a:t>
            </a:r>
          </a:p>
        </p:txBody>
      </p:sp>
    </p:spTree>
    <p:extLst>
      <p:ext uri="{BB962C8B-B14F-4D97-AF65-F5344CB8AC3E}">
        <p14:creationId xmlns:p14="http://schemas.microsoft.com/office/powerpoint/2010/main" val="77254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Store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C++, we store three types of data in a variable: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Primitive data types – bool, int, long, double, etc.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Class data types – an object of a class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Pointer variable stores address of any of the above</a:t>
            </a:r>
          </a:p>
          <a:p>
            <a:r>
              <a:rPr lang="en-US" dirty="0"/>
              <a:t>In Java, we store two types of data in a variable: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Fundamental data types – boolean, int, long, double, etc.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Reference data types* – an object of a class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112713" lvl="1" indent="-112713">
              <a:spcBef>
                <a:spcPts val="2200"/>
              </a:spcBef>
              <a:buFont typeface="Calibri" panose="020F0502020204030204" pitchFamily="34" charset="0"/>
              <a:buChar char=" "/>
            </a:pPr>
            <a:r>
              <a:rPr lang="en-US" sz="2400" dirty="0"/>
              <a:t>*Technically, the value of a reference variable </a:t>
            </a:r>
            <a:r>
              <a:rPr lang="en-US" sz="2400" b="1" dirty="0"/>
              <a:t>points</a:t>
            </a:r>
            <a:r>
              <a:rPr lang="en-US" sz="2400" dirty="0"/>
              <a:t> </a:t>
            </a:r>
            <a:r>
              <a:rPr lang="en-US" sz="2400" b="1" dirty="0"/>
              <a:t>to a location </a:t>
            </a:r>
            <a:r>
              <a:rPr lang="en-US" sz="2400" dirty="0"/>
              <a:t>that contains information relating to the object, which means it’s storing an address, making it a … pointer. But we can just ignore that detail…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93131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8EC7F-E00F-42FA-AA81-0793D034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Examples of Declaring &amp; Initializing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C8CF7-A32A-41DD-B2FD-9462E7361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Primitive:</a:t>
            </a:r>
          </a:p>
          <a:p>
            <a:pPr marL="457200"/>
            <a:r>
              <a:rPr lang="en-US" dirty="0"/>
              <a:t>int x = 10;</a:t>
            </a:r>
          </a:p>
          <a:p>
            <a:pPr marL="457200"/>
            <a:r>
              <a:rPr lang="en-US" dirty="0"/>
              <a:t>int x{10};</a:t>
            </a:r>
          </a:p>
          <a:p>
            <a:r>
              <a:rPr lang="en-US" b="1" dirty="0"/>
              <a:t>Class:</a:t>
            </a:r>
          </a:p>
          <a:p>
            <a:pPr marL="457200"/>
            <a:r>
              <a:rPr lang="en-US" dirty="0"/>
              <a:t>Car myCar;</a:t>
            </a:r>
          </a:p>
          <a:p>
            <a:pPr marL="457200"/>
            <a:r>
              <a:rPr lang="en-US" dirty="0"/>
              <a:t>Car myCar{“Honda”};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6906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8EC7F-E00F-42FA-AA81-0793D034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Examples Declaring &amp; Initializing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C8CF7-A32A-41DD-B2FD-9462E7361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Declaring pointers (no initialization):</a:t>
            </a:r>
          </a:p>
          <a:p>
            <a:pPr marL="457200"/>
            <a:r>
              <a:rPr lang="en-US" dirty="0"/>
              <a:t>Car* carPtr;</a:t>
            </a:r>
          </a:p>
          <a:p>
            <a:pPr marL="457200"/>
            <a:r>
              <a:rPr lang="en-US" dirty="0"/>
              <a:t>int* numPtr;</a:t>
            </a:r>
          </a:p>
          <a:p>
            <a:r>
              <a:rPr lang="en-US" b="1" dirty="0"/>
              <a:t>Declaring pointers (with initialization):</a:t>
            </a:r>
          </a:p>
          <a:p>
            <a:pPr marL="457200"/>
            <a:r>
              <a:rPr lang="en-US" dirty="0"/>
              <a:t>Car* carPtr = &amp;alreadyCreatedCarObject;</a:t>
            </a:r>
          </a:p>
          <a:p>
            <a:pPr marL="457200"/>
            <a:r>
              <a:rPr lang="en-US" dirty="0"/>
              <a:t>Car* carPtr{&amp;alreadyCreatedCarObject};</a:t>
            </a:r>
          </a:p>
          <a:p>
            <a:pPr marL="457200"/>
            <a:r>
              <a:rPr lang="en-US" dirty="0"/>
              <a:t>int* numPtr = &amp;alreadyDeclaredInt;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640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C++ Storing Data in Pointer Type Variable – Object is Not The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Important to distinguish between the </a:t>
            </a:r>
            <a:r>
              <a:rPr lang="en-US" b="1" dirty="0"/>
              <a:t>object</a:t>
            </a:r>
            <a:r>
              <a:rPr lang="en-US" dirty="0"/>
              <a:t>, and a </a:t>
            </a:r>
            <a:r>
              <a:rPr lang="en-US" b="1" dirty="0"/>
              <a:t>pointer variable used to refer to the object</a:t>
            </a:r>
          </a:p>
          <a:p>
            <a:r>
              <a:rPr lang="en-US" dirty="0"/>
              <a:t>What is the difference between this approach:</a:t>
            </a:r>
          </a:p>
          <a:p>
            <a:pPr marL="1828800" indent="0">
              <a:buNone/>
            </a:pPr>
            <a:r>
              <a:rPr lang="en-US" b="1" dirty="0"/>
              <a:t>Car* carPtr = &amp;alreadyCreatedCarObject;</a:t>
            </a:r>
            <a:endParaRPr lang="en-US" dirty="0"/>
          </a:p>
          <a:p>
            <a:br>
              <a:rPr lang="en-US" dirty="0"/>
            </a:br>
            <a:r>
              <a:rPr lang="en-US" dirty="0"/>
              <a:t>And this approach:</a:t>
            </a:r>
          </a:p>
          <a:p>
            <a:pPr marL="1828800" indent="0">
              <a:buNone/>
            </a:pPr>
            <a:r>
              <a:rPr lang="en-US" b="1" dirty="0"/>
              <a:t>Car* carPtr;</a:t>
            </a:r>
            <a:br>
              <a:rPr lang="en-US" b="1" dirty="0"/>
            </a:br>
            <a:r>
              <a:rPr lang="en-US" b="1" dirty="0"/>
              <a:t>carPtr = &amp;alreadyCreatedCarObject;</a:t>
            </a:r>
          </a:p>
        </p:txBody>
      </p:sp>
    </p:spTree>
    <p:extLst>
      <p:ext uri="{BB962C8B-B14F-4D97-AF65-F5344CB8AC3E}">
        <p14:creationId xmlns:p14="http://schemas.microsoft.com/office/powerpoint/2010/main" val="2266093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Pointer Variables are not the Same as Objects – Step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example, when carPtr is declared, it is immediately assigned a value:</a:t>
            </a:r>
          </a:p>
          <a:p>
            <a:pPr marL="1828800" indent="0">
              <a:buNone/>
            </a:pPr>
            <a:r>
              <a:rPr lang="en-US" b="1" dirty="0">
                <a:solidFill>
                  <a:srgbClr val="FF0000"/>
                </a:solidFill>
              </a:rPr>
              <a:t>Step 1:</a:t>
            </a:r>
            <a:r>
              <a:rPr lang="en-US" b="1" dirty="0"/>
              <a:t>	Car carObject;</a:t>
            </a:r>
            <a:br>
              <a:rPr lang="en-US" b="1" dirty="0"/>
            </a:br>
            <a:r>
              <a:rPr lang="en-US" b="1" dirty="0"/>
              <a:t>Step 2:	Car* carPtr = &amp;carObject;</a:t>
            </a:r>
          </a:p>
        </p:txBody>
      </p:sp>
      <p:grpSp>
        <p:nvGrpSpPr>
          <p:cNvPr id="21" name="Group 20" descr="box representing a car object in memory">
            <a:extLst>
              <a:ext uri="{FF2B5EF4-FFF2-40B4-BE49-F238E27FC236}">
                <a16:creationId xmlns:a16="http://schemas.microsoft.com/office/drawing/2014/main" id="{90E64BA2-92AC-4C1F-8708-F7A8DFE817BB}"/>
              </a:ext>
            </a:extLst>
          </p:cNvPr>
          <p:cNvGrpSpPr/>
          <p:nvPr/>
        </p:nvGrpSpPr>
        <p:grpSpPr>
          <a:xfrm>
            <a:off x="457201" y="3780576"/>
            <a:ext cx="4770344" cy="2454326"/>
            <a:chOff x="657362" y="3628176"/>
            <a:chExt cx="4770344" cy="245432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2ACC0-793F-4D07-AAC6-7BE19231C890}"/>
                </a:ext>
              </a:extLst>
            </p:cNvPr>
            <p:cNvSpPr/>
            <p:nvPr/>
          </p:nvSpPr>
          <p:spPr>
            <a:xfrm>
              <a:off x="1648669" y="4085376"/>
              <a:ext cx="2776576" cy="1524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string model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double price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gets &amp; sets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Other functions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C56D64-1542-4D9C-91F2-26A84E12510C}"/>
                </a:ext>
              </a:extLst>
            </p:cNvPr>
            <p:cNvSpPr txBox="1"/>
            <p:nvPr/>
          </p:nvSpPr>
          <p:spPr>
            <a:xfrm>
              <a:off x="1572469" y="3628176"/>
              <a:ext cx="1539524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carObject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AF12BC5-99EC-4123-94F8-A6673D9D98CD}"/>
                </a:ext>
              </a:extLst>
            </p:cNvPr>
            <p:cNvSpPr txBox="1"/>
            <p:nvPr/>
          </p:nvSpPr>
          <p:spPr>
            <a:xfrm>
              <a:off x="657362" y="5574671"/>
              <a:ext cx="4770344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7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Step 1 result: </a:t>
              </a:r>
              <a:r>
                <a:rPr lang="en-US" sz="2700" dirty="0">
                  <a:latin typeface="+mn-lt"/>
                  <a:cs typeface="Arial" panose="020B0604020202020204" pitchFamily="34" charset="0"/>
                </a:rPr>
                <a:t>This object created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602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Pointer Variables are not the Same as Objects – 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example, when carPtr is declared, it is immediately assigned a value:</a:t>
            </a:r>
          </a:p>
          <a:p>
            <a:pPr marL="1828800" indent="0">
              <a:buNone/>
            </a:pPr>
            <a:r>
              <a:rPr lang="en-US" b="1" dirty="0"/>
              <a:t>Step 1:	Car carObject;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Step 2:</a:t>
            </a:r>
            <a:r>
              <a:rPr lang="en-US" b="1" dirty="0"/>
              <a:t>	Car* carPtr = &amp;carObject;</a:t>
            </a:r>
          </a:p>
        </p:txBody>
      </p:sp>
      <p:grpSp>
        <p:nvGrpSpPr>
          <p:cNvPr id="21" name="Group 20" descr="box representing a car object in memory">
            <a:extLst>
              <a:ext uri="{FF2B5EF4-FFF2-40B4-BE49-F238E27FC236}">
                <a16:creationId xmlns:a16="http://schemas.microsoft.com/office/drawing/2014/main" id="{90E64BA2-92AC-4C1F-8708-F7A8DFE817BB}"/>
              </a:ext>
            </a:extLst>
          </p:cNvPr>
          <p:cNvGrpSpPr/>
          <p:nvPr/>
        </p:nvGrpSpPr>
        <p:grpSpPr>
          <a:xfrm>
            <a:off x="1372308" y="3780576"/>
            <a:ext cx="2852776" cy="1981200"/>
            <a:chOff x="1572469" y="3628176"/>
            <a:chExt cx="2852776" cy="1981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2ACC0-793F-4D07-AAC6-7BE19231C890}"/>
                </a:ext>
              </a:extLst>
            </p:cNvPr>
            <p:cNvSpPr/>
            <p:nvPr/>
          </p:nvSpPr>
          <p:spPr>
            <a:xfrm>
              <a:off x="1648669" y="4085376"/>
              <a:ext cx="2776576" cy="1524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string model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double price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gets &amp; sets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Other functions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C56D64-1542-4D9C-91F2-26A84E12510C}"/>
                </a:ext>
              </a:extLst>
            </p:cNvPr>
            <p:cNvSpPr txBox="1"/>
            <p:nvPr/>
          </p:nvSpPr>
          <p:spPr>
            <a:xfrm>
              <a:off x="1572469" y="3628176"/>
              <a:ext cx="1539524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latin typeface="+mn-lt"/>
                  <a:cs typeface="Arial" panose="020B0604020202020204" pitchFamily="34" charset="0"/>
                </a:rPr>
                <a:t>carObject</a:t>
              </a:r>
            </a:p>
          </p:txBody>
        </p:sp>
      </p:grpSp>
      <p:grpSp>
        <p:nvGrpSpPr>
          <p:cNvPr id="10" name="Group 9" descr="box representing the address of a car object in memory">
            <a:extLst>
              <a:ext uri="{FF2B5EF4-FFF2-40B4-BE49-F238E27FC236}">
                <a16:creationId xmlns:a16="http://schemas.microsoft.com/office/drawing/2014/main" id="{032761AF-01F1-4337-AD1C-1336E10E546C}"/>
              </a:ext>
            </a:extLst>
          </p:cNvPr>
          <p:cNvGrpSpPr/>
          <p:nvPr/>
        </p:nvGrpSpPr>
        <p:grpSpPr>
          <a:xfrm>
            <a:off x="4225084" y="3780576"/>
            <a:ext cx="4690316" cy="1295400"/>
            <a:chOff x="4225084" y="3780576"/>
            <a:chExt cx="4690316" cy="129540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2AEFCCA-9C65-48BA-9EB8-FE41C34D8080}"/>
                </a:ext>
              </a:extLst>
            </p:cNvPr>
            <p:cNvGrpSpPr/>
            <p:nvPr/>
          </p:nvGrpSpPr>
          <p:grpSpPr>
            <a:xfrm>
              <a:off x="6705600" y="3780576"/>
              <a:ext cx="2209800" cy="1295400"/>
              <a:chOff x="5410200" y="4430698"/>
              <a:chExt cx="2209800" cy="12954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6939924-67E4-4938-8D90-33EC499720B5}"/>
                  </a:ext>
                </a:extLst>
              </p:cNvPr>
              <p:cNvSpPr/>
              <p:nvPr/>
            </p:nvSpPr>
            <p:spPr>
              <a:xfrm>
                <a:off x="5486400" y="4887898"/>
                <a:ext cx="2133600" cy="8382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Address of this Car object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8E636E-3DEE-4511-9E5B-D3FA3307EDE0}"/>
                  </a:ext>
                </a:extLst>
              </p:cNvPr>
              <p:cNvSpPr txBox="1"/>
              <p:nvPr/>
            </p:nvSpPr>
            <p:spPr>
              <a:xfrm>
                <a:off x="5410200" y="4430698"/>
                <a:ext cx="1030218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700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carPtr</a:t>
                </a:r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F09C430-8A12-48D7-8914-C1CB4218B561}"/>
                </a:ext>
              </a:extLst>
            </p:cNvPr>
            <p:cNvCxnSpPr>
              <a:cxnSpLocks/>
              <a:stCxn id="6" idx="1"/>
              <a:endCxn id="8" idx="3"/>
            </p:cNvCxnSpPr>
            <p:nvPr/>
          </p:nvCxnSpPr>
          <p:spPr>
            <a:xfrm flipH="1">
              <a:off x="4225084" y="4656876"/>
              <a:ext cx="2556716" cy="3429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C620FB2-8C1B-4DC0-99C9-FD8895DBBE01}"/>
              </a:ext>
            </a:extLst>
          </p:cNvPr>
          <p:cNvSpPr txBox="1"/>
          <p:nvPr/>
        </p:nvSpPr>
        <p:spPr>
          <a:xfrm>
            <a:off x="5897907" y="5109504"/>
            <a:ext cx="3901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Step 2</a:t>
            </a:r>
            <a:r>
              <a:rPr lang="en-US" sz="2700" dirty="0">
                <a:latin typeface="+mn-lt"/>
                <a:cs typeface="Arial" panose="020B0604020202020204" pitchFamily="34" charset="0"/>
              </a:rPr>
              <a:t> </a:t>
            </a:r>
            <a:r>
              <a:rPr lang="en-US" sz="27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result:</a:t>
            </a:r>
            <a:r>
              <a:rPr lang="en-US" sz="2700" dirty="0">
                <a:latin typeface="+mn-lt"/>
                <a:cs typeface="Arial" panose="020B0604020202020204" pitchFamily="34" charset="0"/>
              </a:rPr>
              <a:t> This variable created &amp; assigned a value</a:t>
            </a:r>
          </a:p>
        </p:txBody>
      </p:sp>
    </p:spTree>
    <p:extLst>
      <p:ext uri="{BB962C8B-B14F-4D97-AF65-F5344CB8AC3E}">
        <p14:creationId xmlns:p14="http://schemas.microsoft.com/office/powerpoint/2010/main" val="2793248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C++ Pointer Variables are not the Same as Objects – Step 1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in this example, when carPtr is declared, it is NOT immediately assigned a value. It is assigned a value in another step.</a:t>
            </a:r>
          </a:p>
          <a:p>
            <a:pPr marL="1828800" indent="0">
              <a:buNone/>
            </a:pPr>
            <a:r>
              <a:rPr lang="en-US" b="1" dirty="0">
                <a:solidFill>
                  <a:srgbClr val="FF0000"/>
                </a:solidFill>
              </a:rPr>
              <a:t>Step 1:</a:t>
            </a:r>
            <a:r>
              <a:rPr lang="en-US" b="1" dirty="0"/>
              <a:t>	Car carObject;</a:t>
            </a:r>
            <a:br>
              <a:rPr lang="en-US" b="1" dirty="0"/>
            </a:br>
            <a:r>
              <a:rPr lang="en-US" b="1" dirty="0"/>
              <a:t>Step 2:	Car* carPtr;</a:t>
            </a:r>
            <a:br>
              <a:rPr lang="en-US" b="1" dirty="0"/>
            </a:br>
            <a:r>
              <a:rPr lang="en-US" b="1" dirty="0"/>
              <a:t>Step 3:	carPtr = &amp;carObject;</a:t>
            </a:r>
          </a:p>
        </p:txBody>
      </p:sp>
      <p:grpSp>
        <p:nvGrpSpPr>
          <p:cNvPr id="15" name="Group 14" descr="box representing a car object in memory">
            <a:extLst>
              <a:ext uri="{FF2B5EF4-FFF2-40B4-BE49-F238E27FC236}">
                <a16:creationId xmlns:a16="http://schemas.microsoft.com/office/drawing/2014/main" id="{9A9BC507-2FE7-4492-A48C-E1BF74EF67F4}"/>
              </a:ext>
            </a:extLst>
          </p:cNvPr>
          <p:cNvGrpSpPr/>
          <p:nvPr/>
        </p:nvGrpSpPr>
        <p:grpSpPr>
          <a:xfrm>
            <a:off x="457200" y="3780576"/>
            <a:ext cx="4770345" cy="2454326"/>
            <a:chOff x="657361" y="3628176"/>
            <a:chExt cx="4770345" cy="245432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884B97-9869-43EC-9F43-8FB516B1D0B1}"/>
                </a:ext>
              </a:extLst>
            </p:cNvPr>
            <p:cNvSpPr/>
            <p:nvPr/>
          </p:nvSpPr>
          <p:spPr>
            <a:xfrm>
              <a:off x="1648669" y="4085376"/>
              <a:ext cx="2776576" cy="1524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string model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double price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gets &amp; sets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Other functions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773A4D-BFBA-448F-80FC-40E768A92320}"/>
                </a:ext>
              </a:extLst>
            </p:cNvPr>
            <p:cNvSpPr txBox="1"/>
            <p:nvPr/>
          </p:nvSpPr>
          <p:spPr>
            <a:xfrm>
              <a:off x="1572469" y="3628176"/>
              <a:ext cx="1539524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carObject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FD226A6-AE06-49C6-BFB3-54E645C3E863}"/>
                </a:ext>
              </a:extLst>
            </p:cNvPr>
            <p:cNvSpPr txBox="1"/>
            <p:nvPr/>
          </p:nvSpPr>
          <p:spPr>
            <a:xfrm>
              <a:off x="657361" y="5574671"/>
              <a:ext cx="477034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7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Step 1</a:t>
              </a:r>
              <a:r>
                <a:rPr lang="en-US" sz="2700" dirty="0">
                  <a:latin typeface="+mn-lt"/>
                  <a:cs typeface="Arial" panose="020B0604020202020204" pitchFamily="34" charset="0"/>
                </a:rPr>
                <a:t> </a:t>
              </a:r>
              <a:r>
                <a:rPr lang="en-US" sz="27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result: </a:t>
              </a:r>
              <a:r>
                <a:rPr lang="en-US" sz="2700" dirty="0">
                  <a:latin typeface="+mn-lt"/>
                  <a:cs typeface="Arial" panose="020B0604020202020204" pitchFamily="34" charset="0"/>
                </a:rPr>
                <a:t>This object created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11389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C++ Pointer Variables are not the Same as Objects – Step 2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in this example, when carPtr is declared, it is NOT immediately assigned a value. It is assigned a value in another step.</a:t>
            </a:r>
          </a:p>
          <a:p>
            <a:pPr marL="1828800" indent="0">
              <a:buNone/>
            </a:pPr>
            <a:r>
              <a:rPr lang="en-US" b="1" dirty="0"/>
              <a:t>Step 1:	Car carObject;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Step 2:</a:t>
            </a:r>
            <a:r>
              <a:rPr lang="en-US" b="1" dirty="0"/>
              <a:t>	Car* carPtr;</a:t>
            </a:r>
            <a:br>
              <a:rPr lang="en-US" b="1" dirty="0"/>
            </a:br>
            <a:r>
              <a:rPr lang="en-US" b="1" dirty="0"/>
              <a:t>Step 3:	carPtr = &amp;carObject;</a:t>
            </a:r>
          </a:p>
        </p:txBody>
      </p:sp>
      <p:grpSp>
        <p:nvGrpSpPr>
          <p:cNvPr id="15" name="Group 14" descr="box representing a car object in memory">
            <a:extLst>
              <a:ext uri="{FF2B5EF4-FFF2-40B4-BE49-F238E27FC236}">
                <a16:creationId xmlns:a16="http://schemas.microsoft.com/office/drawing/2014/main" id="{9A9BC507-2FE7-4492-A48C-E1BF74EF67F4}"/>
              </a:ext>
            </a:extLst>
          </p:cNvPr>
          <p:cNvGrpSpPr/>
          <p:nvPr/>
        </p:nvGrpSpPr>
        <p:grpSpPr>
          <a:xfrm>
            <a:off x="1372308" y="3780576"/>
            <a:ext cx="2852776" cy="1981200"/>
            <a:chOff x="1572469" y="3628176"/>
            <a:chExt cx="2852776" cy="1981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884B97-9869-43EC-9F43-8FB516B1D0B1}"/>
                </a:ext>
              </a:extLst>
            </p:cNvPr>
            <p:cNvSpPr/>
            <p:nvPr/>
          </p:nvSpPr>
          <p:spPr>
            <a:xfrm>
              <a:off x="1648669" y="4085376"/>
              <a:ext cx="2776576" cy="1524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string model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double price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gets &amp; sets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Other functions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773A4D-BFBA-448F-80FC-40E768A92320}"/>
                </a:ext>
              </a:extLst>
            </p:cNvPr>
            <p:cNvSpPr txBox="1"/>
            <p:nvPr/>
          </p:nvSpPr>
          <p:spPr>
            <a:xfrm>
              <a:off x="1572469" y="3628176"/>
              <a:ext cx="1539524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latin typeface="+mn-lt"/>
                  <a:cs typeface="Arial" panose="020B0604020202020204" pitchFamily="34" charset="0"/>
                </a:rPr>
                <a:t>carObject</a:t>
              </a:r>
            </a:p>
          </p:txBody>
        </p:sp>
      </p:grpSp>
      <p:grpSp>
        <p:nvGrpSpPr>
          <p:cNvPr id="12" name="Group 11" descr="box representing the address of a car object in memory">
            <a:extLst>
              <a:ext uri="{FF2B5EF4-FFF2-40B4-BE49-F238E27FC236}">
                <a16:creationId xmlns:a16="http://schemas.microsoft.com/office/drawing/2014/main" id="{4102075B-248B-4527-B940-C8DDC4A10347}"/>
              </a:ext>
            </a:extLst>
          </p:cNvPr>
          <p:cNvGrpSpPr/>
          <p:nvPr/>
        </p:nvGrpSpPr>
        <p:grpSpPr>
          <a:xfrm>
            <a:off x="6705600" y="3780576"/>
            <a:ext cx="2209800" cy="1295400"/>
            <a:chOff x="5410200" y="4430698"/>
            <a:chExt cx="2209800" cy="12954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6B8A7C-22C0-422F-98A2-D8C3FBE42E89}"/>
                </a:ext>
              </a:extLst>
            </p:cNvPr>
            <p:cNvSpPr/>
            <p:nvPr/>
          </p:nvSpPr>
          <p:spPr>
            <a:xfrm>
              <a:off x="5486400" y="4887898"/>
              <a:ext cx="2133600" cy="838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F68995-795E-4603-8E71-08A3E123337A}"/>
                </a:ext>
              </a:extLst>
            </p:cNvPr>
            <p:cNvSpPr txBox="1"/>
            <p:nvPr/>
          </p:nvSpPr>
          <p:spPr>
            <a:xfrm>
              <a:off x="5410200" y="4430698"/>
              <a:ext cx="1030218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carPtr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D79CAEE-DA78-4DB0-80BC-E149A15E8C0E}"/>
              </a:ext>
            </a:extLst>
          </p:cNvPr>
          <p:cNvSpPr txBox="1"/>
          <p:nvPr/>
        </p:nvSpPr>
        <p:spPr>
          <a:xfrm>
            <a:off x="5897907" y="5109504"/>
            <a:ext cx="3901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Step 2 result: </a:t>
            </a:r>
            <a:r>
              <a:rPr lang="en-US" sz="2700" dirty="0">
                <a:latin typeface="+mn-lt"/>
                <a:cs typeface="Arial" panose="020B0604020202020204" pitchFamily="34" charset="0"/>
              </a:rPr>
              <a:t>This variable created without a value</a:t>
            </a:r>
          </a:p>
        </p:txBody>
      </p:sp>
    </p:spTree>
    <p:extLst>
      <p:ext uri="{BB962C8B-B14F-4D97-AF65-F5344CB8AC3E}">
        <p14:creationId xmlns:p14="http://schemas.microsoft.com/office/powerpoint/2010/main" val="2187105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Pointer Variables are not the Same as Objects – Step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in this example, when carPtr is declared, it is NOT immediately assigned a value. It is assigned a value in another step.</a:t>
            </a:r>
          </a:p>
          <a:p>
            <a:pPr marL="1828800" indent="0">
              <a:buNone/>
            </a:pPr>
            <a:r>
              <a:rPr lang="en-US" b="1" dirty="0"/>
              <a:t>Step 1:	Car carObject;</a:t>
            </a:r>
            <a:br>
              <a:rPr lang="en-US" b="1" dirty="0"/>
            </a:br>
            <a:r>
              <a:rPr lang="en-US" b="1" dirty="0"/>
              <a:t>Step 2:	Car* carPtr;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Step 3:</a:t>
            </a:r>
            <a:r>
              <a:rPr lang="en-US" b="1" dirty="0"/>
              <a:t>	carPtr = &amp;carObject;</a:t>
            </a:r>
          </a:p>
        </p:txBody>
      </p:sp>
      <p:grpSp>
        <p:nvGrpSpPr>
          <p:cNvPr id="15" name="Group 14" descr="box representing a car object in memory">
            <a:extLst>
              <a:ext uri="{FF2B5EF4-FFF2-40B4-BE49-F238E27FC236}">
                <a16:creationId xmlns:a16="http://schemas.microsoft.com/office/drawing/2014/main" id="{9A9BC507-2FE7-4492-A48C-E1BF74EF67F4}"/>
              </a:ext>
            </a:extLst>
          </p:cNvPr>
          <p:cNvGrpSpPr/>
          <p:nvPr/>
        </p:nvGrpSpPr>
        <p:grpSpPr>
          <a:xfrm>
            <a:off x="1372308" y="3780576"/>
            <a:ext cx="2852776" cy="1981200"/>
            <a:chOff x="1572469" y="3628176"/>
            <a:chExt cx="2852776" cy="1981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884B97-9869-43EC-9F43-8FB516B1D0B1}"/>
                </a:ext>
              </a:extLst>
            </p:cNvPr>
            <p:cNvSpPr/>
            <p:nvPr/>
          </p:nvSpPr>
          <p:spPr>
            <a:xfrm>
              <a:off x="1648669" y="4085376"/>
              <a:ext cx="2776576" cy="1524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string model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double price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gets &amp; sets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Other functions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773A4D-BFBA-448F-80FC-40E768A92320}"/>
                </a:ext>
              </a:extLst>
            </p:cNvPr>
            <p:cNvSpPr txBox="1"/>
            <p:nvPr/>
          </p:nvSpPr>
          <p:spPr>
            <a:xfrm>
              <a:off x="1572469" y="3628176"/>
              <a:ext cx="1539524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latin typeface="+mn-lt"/>
                  <a:cs typeface="Arial" panose="020B0604020202020204" pitchFamily="34" charset="0"/>
                </a:rPr>
                <a:t>carObject</a:t>
              </a:r>
            </a:p>
          </p:txBody>
        </p:sp>
      </p:grpSp>
      <p:grpSp>
        <p:nvGrpSpPr>
          <p:cNvPr id="6" name="Group 5" descr="box representing the address of a car object in memory">
            <a:extLst>
              <a:ext uri="{FF2B5EF4-FFF2-40B4-BE49-F238E27FC236}">
                <a16:creationId xmlns:a16="http://schemas.microsoft.com/office/drawing/2014/main" id="{00ECF1DA-076C-4AD3-8FF8-C9D927EEAAD1}"/>
              </a:ext>
            </a:extLst>
          </p:cNvPr>
          <p:cNvGrpSpPr/>
          <p:nvPr/>
        </p:nvGrpSpPr>
        <p:grpSpPr>
          <a:xfrm>
            <a:off x="4225084" y="3780576"/>
            <a:ext cx="4690316" cy="1295400"/>
            <a:chOff x="4225084" y="3780576"/>
            <a:chExt cx="4690316" cy="12954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102075B-248B-4527-B940-C8DDC4A10347}"/>
                </a:ext>
              </a:extLst>
            </p:cNvPr>
            <p:cNvGrpSpPr/>
            <p:nvPr/>
          </p:nvGrpSpPr>
          <p:grpSpPr>
            <a:xfrm>
              <a:off x="6705600" y="3780576"/>
              <a:ext cx="2209800" cy="1295400"/>
              <a:chOff x="5410200" y="4430698"/>
              <a:chExt cx="2209800" cy="12954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06B8A7C-22C0-422F-98A2-D8C3FBE42E89}"/>
                  </a:ext>
                </a:extLst>
              </p:cNvPr>
              <p:cNvSpPr/>
              <p:nvPr/>
            </p:nvSpPr>
            <p:spPr>
              <a:xfrm>
                <a:off x="5486400" y="4887898"/>
                <a:ext cx="2133600" cy="8382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Address of this Car object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F68995-795E-4603-8E71-08A3E123337A}"/>
                  </a:ext>
                </a:extLst>
              </p:cNvPr>
              <p:cNvSpPr txBox="1"/>
              <p:nvPr/>
            </p:nvSpPr>
            <p:spPr>
              <a:xfrm>
                <a:off x="5410200" y="4430698"/>
                <a:ext cx="1030218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700" dirty="0">
                    <a:latin typeface="+mn-lt"/>
                    <a:cs typeface="Arial" panose="020B0604020202020204" pitchFamily="34" charset="0"/>
                  </a:rPr>
                  <a:t>carPtr</a:t>
                </a:r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B480B5-27C8-4FC3-839C-7C5F6E7C7E42}"/>
                </a:ext>
              </a:extLst>
            </p:cNvPr>
            <p:cNvCxnSpPr>
              <a:cxnSpLocks/>
              <a:stCxn id="13" idx="1"/>
              <a:endCxn id="16" idx="3"/>
            </p:cNvCxnSpPr>
            <p:nvPr/>
          </p:nvCxnSpPr>
          <p:spPr>
            <a:xfrm flipH="1">
              <a:off x="4225084" y="4656876"/>
              <a:ext cx="2556716" cy="3429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D79CAEE-DA78-4DB0-80BC-E149A15E8C0E}"/>
              </a:ext>
            </a:extLst>
          </p:cNvPr>
          <p:cNvSpPr txBox="1"/>
          <p:nvPr/>
        </p:nvSpPr>
        <p:spPr>
          <a:xfrm>
            <a:off x="5897907" y="5109504"/>
            <a:ext cx="3901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Step 3 result: </a:t>
            </a:r>
            <a:r>
              <a:rPr lang="en-US" sz="2700" dirty="0">
                <a:latin typeface="+mn-lt"/>
                <a:cs typeface="Arial" panose="020B0604020202020204" pitchFamily="34" charset="0"/>
              </a:rPr>
              <a:t>This variable is assigned a value</a:t>
            </a:r>
          </a:p>
        </p:txBody>
      </p:sp>
    </p:spTree>
    <p:extLst>
      <p:ext uri="{BB962C8B-B14F-4D97-AF65-F5344CB8AC3E}">
        <p14:creationId xmlns:p14="http://schemas.microsoft.com/office/powerpoint/2010/main" val="12429748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8EC7F-E00F-42FA-AA81-0793D034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– Examples of Declaring &amp; Initializing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C8CF7-A32A-41DD-B2FD-9462E7361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Fundamental:</a:t>
            </a:r>
          </a:p>
          <a:p>
            <a:pPr marL="457200"/>
            <a:r>
              <a:rPr lang="en-US" dirty="0"/>
              <a:t>int x = 10;</a:t>
            </a:r>
          </a:p>
          <a:p>
            <a:pPr marL="457200"/>
            <a:r>
              <a:rPr lang="en-US" dirty="0"/>
              <a:t>char c = ‘P’;</a:t>
            </a:r>
          </a:p>
          <a:p>
            <a:r>
              <a:rPr lang="en-US" b="1" dirty="0"/>
              <a:t>Reference:</a:t>
            </a:r>
          </a:p>
          <a:p>
            <a:pPr marL="457200"/>
            <a:r>
              <a:rPr lang="en-US" dirty="0"/>
              <a:t>Car myCar;</a:t>
            </a:r>
          </a:p>
          <a:p>
            <a:pPr marL="457200"/>
            <a:r>
              <a:rPr lang="en-US" dirty="0"/>
              <a:t>Car myCar = new Car(“Honda”);</a:t>
            </a:r>
          </a:p>
        </p:txBody>
      </p:sp>
    </p:spTree>
    <p:extLst>
      <p:ext uri="{BB962C8B-B14F-4D97-AF65-F5344CB8AC3E}">
        <p14:creationId xmlns:p14="http://schemas.microsoft.com/office/powerpoint/2010/main" val="4227142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– Storing Data in Reference Variable – Object is Not The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difference between this approach:</a:t>
            </a:r>
          </a:p>
          <a:p>
            <a:pPr marL="0" indent="0" algn="ctr">
              <a:buNone/>
            </a:pPr>
            <a:r>
              <a:rPr lang="en-US" b="1" dirty="0"/>
              <a:t>Car newCar = new Car();</a:t>
            </a:r>
          </a:p>
          <a:p>
            <a:endParaRPr lang="en-US" dirty="0"/>
          </a:p>
          <a:p>
            <a:r>
              <a:rPr lang="en-US" dirty="0"/>
              <a:t>And this approach:</a:t>
            </a:r>
          </a:p>
          <a:p>
            <a:pPr marL="3941763" indent="0">
              <a:buNone/>
            </a:pPr>
            <a:r>
              <a:rPr lang="en-US" b="1" dirty="0"/>
              <a:t>Car newCar;</a:t>
            </a:r>
          </a:p>
          <a:p>
            <a:pPr marL="3941763" indent="0">
              <a:buNone/>
            </a:pPr>
            <a:r>
              <a:rPr lang="en-US" b="1" dirty="0"/>
              <a:t>newCar = new Car();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52999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– Storing Data in a Reference Type Variable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 this approach:</a:t>
            </a:r>
          </a:p>
          <a:p>
            <a:pPr marL="0" indent="0" algn="ctr">
              <a:buNone/>
            </a:pPr>
            <a:r>
              <a:rPr lang="en-US" b="1" dirty="0"/>
              <a:t>Car newCar = new Car();</a:t>
            </a:r>
          </a:p>
          <a:p>
            <a:endParaRPr lang="en-US" dirty="0"/>
          </a:p>
          <a:p>
            <a:r>
              <a:rPr lang="en-US" dirty="0"/>
              <a:t>And this approach:</a:t>
            </a:r>
          </a:p>
          <a:p>
            <a:pPr marL="3941763" indent="0">
              <a:buNone/>
            </a:pPr>
            <a:r>
              <a:rPr lang="en-US" b="1" dirty="0"/>
              <a:t>Car newCar;</a:t>
            </a:r>
          </a:p>
          <a:p>
            <a:pPr marL="3941763" indent="0">
              <a:buNone/>
            </a:pPr>
            <a:r>
              <a:rPr lang="en-US" b="1" dirty="0"/>
              <a:t>Car otherCar = new Car();</a:t>
            </a:r>
          </a:p>
          <a:p>
            <a:pPr marL="3941763" indent="0">
              <a:buNone/>
            </a:pPr>
            <a:r>
              <a:rPr lang="en-US" b="1" dirty="0"/>
              <a:t>newCar = otherCar;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36164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– Reference Variables are not the Same as Objects – Step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example, when newCar is declared, it is immediately assigned a value:</a:t>
            </a:r>
          </a:p>
          <a:p>
            <a:pPr marL="0" indent="0" algn="ctr">
              <a:buNone/>
            </a:pPr>
            <a:r>
              <a:rPr lang="en-US" b="1" dirty="0"/>
              <a:t>Car newCar = new Car();</a:t>
            </a:r>
          </a:p>
        </p:txBody>
      </p:sp>
      <p:grpSp>
        <p:nvGrpSpPr>
          <p:cNvPr id="10" name="Group 9" descr="box representing the address of a car object in memory">
            <a:extLst>
              <a:ext uri="{FF2B5EF4-FFF2-40B4-BE49-F238E27FC236}">
                <a16:creationId xmlns:a16="http://schemas.microsoft.com/office/drawing/2014/main" id="{75ADCF23-E8E5-458E-86A1-451D546BFD08}"/>
              </a:ext>
            </a:extLst>
          </p:cNvPr>
          <p:cNvGrpSpPr/>
          <p:nvPr/>
        </p:nvGrpSpPr>
        <p:grpSpPr>
          <a:xfrm>
            <a:off x="1371600" y="3200400"/>
            <a:ext cx="5072024" cy="1295400"/>
            <a:chOff x="1371600" y="3200400"/>
            <a:chExt cx="5072024" cy="1295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939924-67E4-4938-8D90-33EC499720B5}"/>
                </a:ext>
              </a:extLst>
            </p:cNvPr>
            <p:cNvSpPr/>
            <p:nvPr/>
          </p:nvSpPr>
          <p:spPr>
            <a:xfrm>
              <a:off x="1447800" y="3657600"/>
              <a:ext cx="2133600" cy="838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Address of this Car object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8E636E-3DEE-4511-9E5B-D3FA3307EDE0}"/>
                </a:ext>
              </a:extLst>
            </p:cNvPr>
            <p:cNvSpPr txBox="1"/>
            <p:nvPr/>
          </p:nvSpPr>
          <p:spPr>
            <a:xfrm>
              <a:off x="1371600" y="3200400"/>
              <a:ext cx="1252202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latin typeface="+mn-lt"/>
                  <a:cs typeface="Arial" panose="020B0604020202020204" pitchFamily="34" charset="0"/>
                </a:rPr>
                <a:t>newCar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F09C430-8A12-48D7-8914-C1CB4218B561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3581400" y="4076700"/>
              <a:ext cx="2862224" cy="3429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0C56D64-1542-4D9C-91F2-26A84E12510C}"/>
              </a:ext>
            </a:extLst>
          </p:cNvPr>
          <p:cNvSpPr txBox="1"/>
          <p:nvPr/>
        </p:nvSpPr>
        <p:spPr>
          <a:xfrm>
            <a:off x="6367424" y="3200400"/>
            <a:ext cx="161294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latin typeface="+mn-lt"/>
                <a:cs typeface="Arial" panose="020B0604020202020204" pitchFamily="34" charset="0"/>
              </a:rPr>
              <a:t>Car object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A2ACC0-793F-4D07-AAC6-7BE19231C890}"/>
              </a:ext>
            </a:extLst>
          </p:cNvPr>
          <p:cNvSpPr/>
          <p:nvPr/>
        </p:nvSpPr>
        <p:spPr>
          <a:xfrm>
            <a:off x="6443624" y="3657600"/>
            <a:ext cx="2776576" cy="1524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String type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double price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gets &amp; sets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Other methods</a:t>
            </a:r>
          </a:p>
        </p:txBody>
      </p:sp>
    </p:spTree>
    <p:extLst>
      <p:ext uri="{BB962C8B-B14F-4D97-AF65-F5344CB8AC3E}">
        <p14:creationId xmlns:p14="http://schemas.microsoft.com/office/powerpoint/2010/main" val="2933695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– Reference Variables are not the Same as Objects – Step 1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in this example, when newCar is declared, it is NOT immediately assigned a value. It is assigned a value in another step.</a:t>
            </a:r>
          </a:p>
          <a:p>
            <a:pPr marL="1828800" indent="0">
              <a:buNone/>
            </a:pPr>
            <a:r>
              <a:rPr lang="en-US" b="1" dirty="0">
                <a:solidFill>
                  <a:srgbClr val="FF0000"/>
                </a:solidFill>
              </a:rPr>
              <a:t>Step 1:</a:t>
            </a:r>
            <a:r>
              <a:rPr lang="en-US" b="1" dirty="0"/>
              <a:t>	Car newCar;</a:t>
            </a:r>
            <a:br>
              <a:rPr lang="en-US" b="1" dirty="0"/>
            </a:br>
            <a:r>
              <a:rPr lang="en-US" b="1" dirty="0"/>
              <a:t>Step 2:	Car otherCar = new Car();</a:t>
            </a:r>
            <a:br>
              <a:rPr lang="en-US" b="1" dirty="0"/>
            </a:br>
            <a:r>
              <a:rPr lang="en-US" b="1" dirty="0"/>
              <a:t>Step 3:	newCar = otherCar;</a:t>
            </a:r>
          </a:p>
          <a:p>
            <a:endParaRPr lang="en-US" b="1" dirty="0"/>
          </a:p>
        </p:txBody>
      </p:sp>
      <p:grpSp>
        <p:nvGrpSpPr>
          <p:cNvPr id="14" name="Group 13" descr="a box containing the address of the object, with arrow pointing to object">
            <a:extLst>
              <a:ext uri="{FF2B5EF4-FFF2-40B4-BE49-F238E27FC236}">
                <a16:creationId xmlns:a16="http://schemas.microsoft.com/office/drawing/2014/main" id="{92807DA0-8CF3-45A3-9D2F-C254C801648E}"/>
              </a:ext>
            </a:extLst>
          </p:cNvPr>
          <p:cNvGrpSpPr/>
          <p:nvPr/>
        </p:nvGrpSpPr>
        <p:grpSpPr>
          <a:xfrm>
            <a:off x="2514600" y="3429000"/>
            <a:ext cx="2209800" cy="1295400"/>
            <a:chOff x="2362200" y="4152900"/>
            <a:chExt cx="2209800" cy="1295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21CB35-9C1A-4622-863E-0F9C70C28E7F}"/>
                </a:ext>
              </a:extLst>
            </p:cNvPr>
            <p:cNvSpPr/>
            <p:nvPr/>
          </p:nvSpPr>
          <p:spPr>
            <a:xfrm>
              <a:off x="2438400" y="4610100"/>
              <a:ext cx="2133600" cy="838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224829-DB42-4805-B15F-26DEDBE9EEE1}"/>
                </a:ext>
              </a:extLst>
            </p:cNvPr>
            <p:cNvSpPr txBox="1"/>
            <p:nvPr/>
          </p:nvSpPr>
          <p:spPr>
            <a:xfrm>
              <a:off x="2362200" y="4152900"/>
              <a:ext cx="1252202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solidFill>
                    <a:srgbClr val="FF0000"/>
                  </a:solidFill>
                  <a:latin typeface="+mn-lt"/>
                </a:rPr>
                <a:t>newCar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81735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– Reference Variables are not the Same as Objects – 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in this example, when newCar is declared, it is NOT immediately assigned a value. It is assigned a value in another step.</a:t>
            </a:r>
          </a:p>
          <a:p>
            <a:pPr marL="1828800" indent="0">
              <a:buNone/>
            </a:pPr>
            <a:r>
              <a:rPr lang="en-US" b="1" dirty="0"/>
              <a:t>Step 1:	Car newCar;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Step 2:</a:t>
            </a:r>
            <a:r>
              <a:rPr lang="en-US" b="1" dirty="0"/>
              <a:t>	Car otherCar = new Car();</a:t>
            </a:r>
            <a:br>
              <a:rPr lang="en-US" b="1" dirty="0"/>
            </a:br>
            <a:r>
              <a:rPr lang="en-US" b="1" dirty="0"/>
              <a:t>Step 3:	newCar = otherCar;</a:t>
            </a:r>
          </a:p>
          <a:p>
            <a:endParaRPr lang="en-US" b="1" dirty="0"/>
          </a:p>
        </p:txBody>
      </p:sp>
      <p:grpSp>
        <p:nvGrpSpPr>
          <p:cNvPr id="14" name="Group 13" descr="a box containing the address of the object, with arrow pointing to object">
            <a:extLst>
              <a:ext uri="{FF2B5EF4-FFF2-40B4-BE49-F238E27FC236}">
                <a16:creationId xmlns:a16="http://schemas.microsoft.com/office/drawing/2014/main" id="{92807DA0-8CF3-45A3-9D2F-C254C801648E}"/>
              </a:ext>
            </a:extLst>
          </p:cNvPr>
          <p:cNvGrpSpPr/>
          <p:nvPr/>
        </p:nvGrpSpPr>
        <p:grpSpPr>
          <a:xfrm>
            <a:off x="2514600" y="3429000"/>
            <a:ext cx="2209800" cy="1295400"/>
            <a:chOff x="2362200" y="4152900"/>
            <a:chExt cx="2209800" cy="1295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21CB35-9C1A-4622-863E-0F9C70C28E7F}"/>
                </a:ext>
              </a:extLst>
            </p:cNvPr>
            <p:cNvSpPr/>
            <p:nvPr/>
          </p:nvSpPr>
          <p:spPr>
            <a:xfrm>
              <a:off x="2438400" y="4610100"/>
              <a:ext cx="2133600" cy="838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224829-DB42-4805-B15F-26DEDBE9EEE1}"/>
                </a:ext>
              </a:extLst>
            </p:cNvPr>
            <p:cNvSpPr txBox="1"/>
            <p:nvPr/>
          </p:nvSpPr>
          <p:spPr>
            <a:xfrm>
              <a:off x="2362200" y="4152900"/>
              <a:ext cx="1252202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latin typeface="+mn-lt"/>
                </a:rPr>
                <a:t>newCar</a:t>
              </a:r>
            </a:p>
          </p:txBody>
        </p:sp>
      </p:grpSp>
      <p:grpSp>
        <p:nvGrpSpPr>
          <p:cNvPr id="12" name="Group 11" descr="a different box representing the address of the same car object in memory">
            <a:extLst>
              <a:ext uri="{FF2B5EF4-FFF2-40B4-BE49-F238E27FC236}">
                <a16:creationId xmlns:a16="http://schemas.microsoft.com/office/drawing/2014/main" id="{497BD04A-8624-4AA8-9C69-C5D70CE7CA8D}"/>
              </a:ext>
            </a:extLst>
          </p:cNvPr>
          <p:cNvGrpSpPr/>
          <p:nvPr/>
        </p:nvGrpSpPr>
        <p:grpSpPr>
          <a:xfrm>
            <a:off x="2536012" y="4846857"/>
            <a:ext cx="4898212" cy="1295400"/>
            <a:chOff x="2536012" y="4846857"/>
            <a:chExt cx="4898212" cy="12954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455A39A-EB78-488C-9081-1413313A07CC}"/>
                </a:ext>
              </a:extLst>
            </p:cNvPr>
            <p:cNvGrpSpPr/>
            <p:nvPr/>
          </p:nvGrpSpPr>
          <p:grpSpPr>
            <a:xfrm>
              <a:off x="2536012" y="4846857"/>
              <a:ext cx="2209800" cy="1295400"/>
              <a:chOff x="2536012" y="4846857"/>
              <a:chExt cx="2209800" cy="12954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8FA9491-97C5-48F9-9E5A-B5FB034A5CCE}"/>
                  </a:ext>
                </a:extLst>
              </p:cNvPr>
              <p:cNvSpPr/>
              <p:nvPr/>
            </p:nvSpPr>
            <p:spPr>
              <a:xfrm>
                <a:off x="2612212" y="5304057"/>
                <a:ext cx="2133600" cy="8382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Address of this Car object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F6D8DD-1026-4C24-A636-1D95A7C01809}"/>
                  </a:ext>
                </a:extLst>
              </p:cNvPr>
              <p:cNvSpPr txBox="1"/>
              <p:nvPr/>
            </p:nvSpPr>
            <p:spPr>
              <a:xfrm>
                <a:off x="2536012" y="4846857"/>
                <a:ext cx="1425390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700" dirty="0">
                    <a:solidFill>
                      <a:srgbClr val="FF0000"/>
                    </a:solidFill>
                    <a:latin typeface="+mn-lt"/>
                  </a:rPr>
                  <a:t>otherCar</a:t>
                </a:r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B047927-95C6-4A2B-B2E8-0B734F429A2F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V="1">
              <a:off x="4745812" y="5134414"/>
              <a:ext cx="2688412" cy="5887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 descr="box representing a car object">
            <a:extLst>
              <a:ext uri="{FF2B5EF4-FFF2-40B4-BE49-F238E27FC236}">
                <a16:creationId xmlns:a16="http://schemas.microsoft.com/office/drawing/2014/main" id="{AB414D99-35C8-465C-AB1A-18AA62031496}"/>
              </a:ext>
            </a:extLst>
          </p:cNvPr>
          <p:cNvGrpSpPr/>
          <p:nvPr/>
        </p:nvGrpSpPr>
        <p:grpSpPr>
          <a:xfrm>
            <a:off x="7358024" y="3733800"/>
            <a:ext cx="2852776" cy="1981200"/>
            <a:chOff x="7358024" y="3733800"/>
            <a:chExt cx="2852776" cy="1981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7F69C3-F73A-48D9-A353-05B616966F9E}"/>
                </a:ext>
              </a:extLst>
            </p:cNvPr>
            <p:cNvSpPr/>
            <p:nvPr/>
          </p:nvSpPr>
          <p:spPr>
            <a:xfrm>
              <a:off x="7434224" y="4191000"/>
              <a:ext cx="2776576" cy="1524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String type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double price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gets &amp; sets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Other methods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E0F7F9B-32E3-44CD-95C5-021647F67BB7}"/>
                </a:ext>
              </a:extLst>
            </p:cNvPr>
            <p:cNvSpPr txBox="1"/>
            <p:nvPr/>
          </p:nvSpPr>
          <p:spPr>
            <a:xfrm>
              <a:off x="7358024" y="3733800"/>
              <a:ext cx="1612942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solidFill>
                    <a:srgbClr val="FF0000"/>
                  </a:solidFill>
                  <a:latin typeface="+mn-lt"/>
                </a:rPr>
                <a:t>Car object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2572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533F-8578-49CA-955D-2465CB2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– Reference Variables are not the Same as Objects – Step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516F-7DBE-4FEC-8345-3A4E4AB8A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in this example, when newCar is declared, it is NOT immediately assigned a value. It is assigned a value in another step.</a:t>
            </a:r>
          </a:p>
          <a:p>
            <a:pPr marL="1828800" indent="0">
              <a:buNone/>
            </a:pPr>
            <a:r>
              <a:rPr lang="en-US" b="1" dirty="0"/>
              <a:t>Step 1:	Car newCar;</a:t>
            </a:r>
            <a:br>
              <a:rPr lang="en-US" b="1" dirty="0"/>
            </a:br>
            <a:r>
              <a:rPr lang="en-US" b="1" dirty="0"/>
              <a:t>Step 2:	Car otherCar = new Car();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Step 3:</a:t>
            </a:r>
            <a:r>
              <a:rPr lang="en-US" b="1" dirty="0"/>
              <a:t>	newCar = otherCar;</a:t>
            </a:r>
          </a:p>
          <a:p>
            <a:endParaRPr lang="en-US" b="1" dirty="0"/>
          </a:p>
        </p:txBody>
      </p:sp>
      <p:grpSp>
        <p:nvGrpSpPr>
          <p:cNvPr id="4" name="Group 3" descr="a box containing the address of the object, with arrow pointing to object">
            <a:extLst>
              <a:ext uri="{FF2B5EF4-FFF2-40B4-BE49-F238E27FC236}">
                <a16:creationId xmlns:a16="http://schemas.microsoft.com/office/drawing/2014/main" id="{67BBD146-260F-4826-A9DF-5EA76F9C6D83}"/>
              </a:ext>
            </a:extLst>
          </p:cNvPr>
          <p:cNvGrpSpPr/>
          <p:nvPr/>
        </p:nvGrpSpPr>
        <p:grpSpPr>
          <a:xfrm>
            <a:off x="2514600" y="3429000"/>
            <a:ext cx="4919624" cy="1671772"/>
            <a:chOff x="2514600" y="3429000"/>
            <a:chExt cx="4919624" cy="167177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5F249C6-151E-463B-9523-AFC05ECDCBA0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4724400" y="4306691"/>
              <a:ext cx="2709824" cy="79408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74D966A-2915-4936-B252-6906867D99F5}"/>
                </a:ext>
              </a:extLst>
            </p:cNvPr>
            <p:cNvSpPr/>
            <p:nvPr/>
          </p:nvSpPr>
          <p:spPr>
            <a:xfrm>
              <a:off x="2590800" y="3887591"/>
              <a:ext cx="2133600" cy="838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Address of this Car object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C7D8573-6D59-4B99-8166-63F4907384F1}"/>
                </a:ext>
              </a:extLst>
            </p:cNvPr>
            <p:cNvSpPr txBox="1"/>
            <p:nvPr/>
          </p:nvSpPr>
          <p:spPr>
            <a:xfrm>
              <a:off x="2514600" y="3429000"/>
              <a:ext cx="1252202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latin typeface="+mn-lt"/>
                </a:rPr>
                <a:t>newCar</a:t>
              </a:r>
            </a:p>
          </p:txBody>
        </p:sp>
      </p:grpSp>
      <p:grpSp>
        <p:nvGrpSpPr>
          <p:cNvPr id="5" name="Group 4" descr="another box containing the address of the object, with arrow pointing to object">
            <a:extLst>
              <a:ext uri="{FF2B5EF4-FFF2-40B4-BE49-F238E27FC236}">
                <a16:creationId xmlns:a16="http://schemas.microsoft.com/office/drawing/2014/main" id="{9C82FB9B-C8DC-4CCB-B60E-E689D822F2A7}"/>
              </a:ext>
            </a:extLst>
          </p:cNvPr>
          <p:cNvGrpSpPr/>
          <p:nvPr/>
        </p:nvGrpSpPr>
        <p:grpSpPr>
          <a:xfrm>
            <a:off x="2536012" y="4846857"/>
            <a:ext cx="4898212" cy="1295400"/>
            <a:chOff x="2536012" y="4846857"/>
            <a:chExt cx="4898212" cy="129540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D727042-F3F4-4DFD-9888-4E391E42E796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4745812" y="5134414"/>
              <a:ext cx="2688412" cy="5887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 descr="a box rep">
              <a:extLst>
                <a:ext uri="{FF2B5EF4-FFF2-40B4-BE49-F238E27FC236}">
                  <a16:creationId xmlns:a16="http://schemas.microsoft.com/office/drawing/2014/main" id="{468ED273-B29A-4D55-B375-AD61D71A067C}"/>
                </a:ext>
              </a:extLst>
            </p:cNvPr>
            <p:cNvSpPr/>
            <p:nvPr/>
          </p:nvSpPr>
          <p:spPr>
            <a:xfrm>
              <a:off x="2612212" y="5304057"/>
              <a:ext cx="2133600" cy="838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Address of this Car object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1B646D3-3903-4B33-9C46-907D0835C185}"/>
                </a:ext>
              </a:extLst>
            </p:cNvPr>
            <p:cNvSpPr txBox="1"/>
            <p:nvPr/>
          </p:nvSpPr>
          <p:spPr>
            <a:xfrm>
              <a:off x="2536012" y="4846857"/>
              <a:ext cx="1425390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latin typeface="+mn-lt"/>
                </a:rPr>
                <a:t>otherCar</a:t>
              </a:r>
            </a:p>
          </p:txBody>
        </p:sp>
      </p:grpSp>
      <p:grpSp>
        <p:nvGrpSpPr>
          <p:cNvPr id="19" name="Group 18" descr="box representing a car object">
            <a:extLst>
              <a:ext uri="{FF2B5EF4-FFF2-40B4-BE49-F238E27FC236}">
                <a16:creationId xmlns:a16="http://schemas.microsoft.com/office/drawing/2014/main" id="{A6E218A8-4FCF-440F-9E1F-EA58C9AF93EE}"/>
              </a:ext>
            </a:extLst>
          </p:cNvPr>
          <p:cNvGrpSpPr/>
          <p:nvPr/>
        </p:nvGrpSpPr>
        <p:grpSpPr>
          <a:xfrm>
            <a:off x="7358024" y="3733800"/>
            <a:ext cx="2852776" cy="1981200"/>
            <a:chOff x="7358024" y="3733800"/>
            <a:chExt cx="2852776" cy="1981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E22C2D-284E-492F-AFDA-1520DABA6658}"/>
                </a:ext>
              </a:extLst>
            </p:cNvPr>
            <p:cNvSpPr/>
            <p:nvPr/>
          </p:nvSpPr>
          <p:spPr>
            <a:xfrm>
              <a:off x="7434224" y="4191000"/>
              <a:ext cx="2776576" cy="1524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String type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double price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gets &amp; sets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Other methods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355C00-06F2-411B-A90D-5EBC99F92283}"/>
                </a:ext>
              </a:extLst>
            </p:cNvPr>
            <p:cNvSpPr txBox="1"/>
            <p:nvPr/>
          </p:nvSpPr>
          <p:spPr>
            <a:xfrm>
              <a:off x="7358024" y="3733800"/>
              <a:ext cx="1612942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latin typeface="+mn-lt"/>
                </a:rPr>
                <a:t>Car object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83677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26721626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Data Structures are Groups of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Related data is grouped, stored and accessed using </a:t>
            </a:r>
            <a:r>
              <a:rPr lang="en-US" b="1" dirty="0"/>
              <a:t>one identifier</a:t>
            </a:r>
          </a:p>
          <a:p>
            <a:r>
              <a:rPr lang="en-US" dirty="0"/>
              <a:t>Many different types</a:t>
            </a:r>
          </a:p>
          <a:p>
            <a:r>
              <a:rPr lang="en-US" dirty="0"/>
              <a:t>Dynamic vs. static – one distinction between different types of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25819333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Arrays are Static Data Structures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structure that is a collection of data items of the </a:t>
            </a:r>
            <a:r>
              <a:rPr lang="en-US" b="1" dirty="0"/>
              <a:t>same type</a:t>
            </a:r>
            <a:r>
              <a:rPr lang="en-US" dirty="0"/>
              <a:t>, stored in </a:t>
            </a:r>
            <a:r>
              <a:rPr lang="en-US" b="1" dirty="0"/>
              <a:t>adjacent memory cells</a:t>
            </a:r>
          </a:p>
          <a:p>
            <a:pPr lvl="1"/>
            <a:r>
              <a:rPr lang="en-US" dirty="0"/>
              <a:t>Adjacent means right next to each other, one after another</a:t>
            </a:r>
          </a:p>
          <a:p>
            <a:r>
              <a:rPr lang="en-US" dirty="0"/>
              <a:t>Once an array is created:</a:t>
            </a:r>
          </a:p>
          <a:p>
            <a:pPr lvl="1"/>
            <a:r>
              <a:rPr lang="en-US" dirty="0"/>
              <a:t>Its size or the type of data it can store </a:t>
            </a:r>
            <a:r>
              <a:rPr lang="en-US" b="1" dirty="0"/>
              <a:t>cannot be changed</a:t>
            </a:r>
          </a:p>
          <a:p>
            <a:pPr lvl="1"/>
            <a:r>
              <a:rPr lang="en-US" dirty="0"/>
              <a:t>It is static</a:t>
            </a:r>
          </a:p>
        </p:txBody>
      </p:sp>
    </p:spTree>
    <p:extLst>
      <p:ext uri="{BB962C8B-B14F-4D97-AF65-F5344CB8AC3E}">
        <p14:creationId xmlns:p14="http://schemas.microsoft.com/office/powerpoint/2010/main" val="20390873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Elements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item in array is an element</a:t>
            </a:r>
          </a:p>
          <a:p>
            <a:r>
              <a:rPr lang="en-US" dirty="0"/>
              <a:t>Elements can be either primitive types or objects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CFA0DA-A833-471E-BE82-332EB84BB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548443"/>
              </p:ext>
            </p:extLst>
          </p:nvPr>
        </p:nvGraphicFramePr>
        <p:xfrm>
          <a:off x="1905000" y="3505200"/>
          <a:ext cx="6858000" cy="85344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-54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Group 5" descr="box containing the word elements with an arrow pointing to the array values">
            <a:extLst>
              <a:ext uri="{FF2B5EF4-FFF2-40B4-BE49-F238E27FC236}">
                <a16:creationId xmlns:a16="http://schemas.microsoft.com/office/drawing/2014/main" id="{459D8299-755A-402C-ACEB-70D8CE11E00D}"/>
              </a:ext>
            </a:extLst>
          </p:cNvPr>
          <p:cNvGrpSpPr/>
          <p:nvPr/>
        </p:nvGrpSpPr>
        <p:grpSpPr>
          <a:xfrm>
            <a:off x="8763000" y="3701087"/>
            <a:ext cx="2310279" cy="461665"/>
            <a:chOff x="8763000" y="2939087"/>
            <a:chExt cx="2310279" cy="4616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273D0A-3FDA-42D8-B93B-EE5876A6C691}"/>
                </a:ext>
              </a:extLst>
            </p:cNvPr>
            <p:cNvSpPr txBox="1"/>
            <p:nvPr/>
          </p:nvSpPr>
          <p:spPr>
            <a:xfrm>
              <a:off x="9729321" y="2939087"/>
              <a:ext cx="13439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n-lt"/>
                </a:rPr>
                <a:t>elements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503853E-3B89-4E49-8AA7-5A77E81768EF}"/>
                </a:ext>
              </a:extLst>
            </p:cNvPr>
            <p:cNvCxnSpPr>
              <a:stCxn id="7" idx="1"/>
              <a:endCxn id="5" idx="3"/>
            </p:cNvCxnSpPr>
            <p:nvPr/>
          </p:nvCxnSpPr>
          <p:spPr>
            <a:xfrm flipH="1">
              <a:off x="8763000" y="3169920"/>
              <a:ext cx="966321" cy="762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6EBC05-98DA-4276-A4F6-67524E583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935782"/>
              </p:ext>
            </p:extLst>
          </p:nvPr>
        </p:nvGraphicFramePr>
        <p:xfrm>
          <a:off x="1905000" y="4419600"/>
          <a:ext cx="6858000" cy="53340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0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4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5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7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Group 10" descr="box containing the word subscripts with an arrow pointing to the array subscripts">
            <a:extLst>
              <a:ext uri="{FF2B5EF4-FFF2-40B4-BE49-F238E27FC236}">
                <a16:creationId xmlns:a16="http://schemas.microsoft.com/office/drawing/2014/main" id="{B685F724-6D7D-4B99-BDB2-C3F95BE01B79}"/>
              </a:ext>
            </a:extLst>
          </p:cNvPr>
          <p:cNvGrpSpPr/>
          <p:nvPr/>
        </p:nvGrpSpPr>
        <p:grpSpPr>
          <a:xfrm>
            <a:off x="8763000" y="4406499"/>
            <a:ext cx="2680820" cy="461665"/>
            <a:chOff x="8763000" y="3644499"/>
            <a:chExt cx="2680820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6D7F88-9489-4C74-8208-7C7FEA241D4B}"/>
                </a:ext>
              </a:extLst>
            </p:cNvPr>
            <p:cNvSpPr txBox="1"/>
            <p:nvPr/>
          </p:nvSpPr>
          <p:spPr>
            <a:xfrm>
              <a:off x="9729321" y="3644499"/>
              <a:ext cx="17144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n-lt"/>
                </a:rPr>
                <a:t>subscripts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058A1EA-23DA-420F-84F1-55E5CB233671}"/>
                </a:ext>
              </a:extLst>
            </p:cNvPr>
            <p:cNvCxnSpPr>
              <a:stCxn id="12" idx="1"/>
              <a:endCxn id="9" idx="3"/>
            </p:cNvCxnSpPr>
            <p:nvPr/>
          </p:nvCxnSpPr>
          <p:spPr>
            <a:xfrm flipH="1">
              <a:off x="8763000" y="3875332"/>
              <a:ext cx="966321" cy="12516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33129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Subscripts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within brackets is the distance from the beginning of the array</a:t>
            </a:r>
          </a:p>
          <a:p>
            <a:pPr lvl="1"/>
            <a:r>
              <a:rPr lang="en-US" dirty="0"/>
              <a:t>Also called the offset</a:t>
            </a:r>
          </a:p>
          <a:p>
            <a:r>
              <a:rPr lang="en-US" dirty="0"/>
              <a:t>Range of possible subscript values must be 0 to array length minus one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76173"/>
              </p:ext>
            </p:extLst>
          </p:nvPr>
        </p:nvGraphicFramePr>
        <p:xfrm>
          <a:off x="1905000" y="3505200"/>
          <a:ext cx="6858000" cy="85344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-54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Group 14" descr="box containing the word elements with an arrow pointing to the array values">
            <a:extLst>
              <a:ext uri="{FF2B5EF4-FFF2-40B4-BE49-F238E27FC236}">
                <a16:creationId xmlns:a16="http://schemas.microsoft.com/office/drawing/2014/main" id="{EB8CCBFC-FFE2-4496-8C6C-3486C48E86AF}"/>
              </a:ext>
            </a:extLst>
          </p:cNvPr>
          <p:cNvGrpSpPr/>
          <p:nvPr/>
        </p:nvGrpSpPr>
        <p:grpSpPr>
          <a:xfrm>
            <a:off x="8763000" y="3701087"/>
            <a:ext cx="2310279" cy="461665"/>
            <a:chOff x="8763000" y="2939087"/>
            <a:chExt cx="2310279" cy="461665"/>
          </a:xfrm>
        </p:grpSpPr>
        <p:sp>
          <p:nvSpPr>
            <p:cNvPr id="9" name="TextBox 8"/>
            <p:cNvSpPr txBox="1"/>
            <p:nvPr/>
          </p:nvSpPr>
          <p:spPr>
            <a:xfrm>
              <a:off x="9729321" y="2939087"/>
              <a:ext cx="13439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n-lt"/>
                </a:rPr>
                <a:t>elements</a:t>
              </a:r>
            </a:p>
          </p:txBody>
        </p:sp>
        <p:cxnSp>
          <p:nvCxnSpPr>
            <p:cNvPr id="10" name="Straight Arrow Connector 9"/>
            <p:cNvCxnSpPr>
              <a:stCxn id="9" idx="1"/>
              <a:endCxn id="6" idx="3"/>
            </p:cNvCxnSpPr>
            <p:nvPr/>
          </p:nvCxnSpPr>
          <p:spPr>
            <a:xfrm flipH="1">
              <a:off x="8763000" y="3169920"/>
              <a:ext cx="966321" cy="762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661381"/>
              </p:ext>
            </p:extLst>
          </p:nvPr>
        </p:nvGraphicFramePr>
        <p:xfrm>
          <a:off x="1905000" y="4419600"/>
          <a:ext cx="6858000" cy="53340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0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4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5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7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Group 15" descr="box containing the word subscripts with an arrow pointing to the array subscripts">
            <a:extLst>
              <a:ext uri="{FF2B5EF4-FFF2-40B4-BE49-F238E27FC236}">
                <a16:creationId xmlns:a16="http://schemas.microsoft.com/office/drawing/2014/main" id="{EF47CB29-5242-45F6-B504-D7DA19A52B85}"/>
              </a:ext>
            </a:extLst>
          </p:cNvPr>
          <p:cNvGrpSpPr/>
          <p:nvPr/>
        </p:nvGrpSpPr>
        <p:grpSpPr>
          <a:xfrm>
            <a:off x="8763000" y="4406499"/>
            <a:ext cx="2680820" cy="461665"/>
            <a:chOff x="8763000" y="3644499"/>
            <a:chExt cx="2680820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9729321" y="3644499"/>
              <a:ext cx="17144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+mn-lt"/>
                </a:rPr>
                <a:t>subscripts</a:t>
              </a:r>
            </a:p>
          </p:txBody>
        </p:sp>
        <p:cxnSp>
          <p:nvCxnSpPr>
            <p:cNvPr id="12" name="Straight Arrow Connector 11"/>
            <p:cNvCxnSpPr>
              <a:stCxn id="11" idx="1"/>
              <a:endCxn id="8" idx="3"/>
            </p:cNvCxnSpPr>
            <p:nvPr/>
          </p:nvCxnSpPr>
          <p:spPr>
            <a:xfrm flipH="1">
              <a:off x="8763000" y="3875332"/>
              <a:ext cx="966321" cy="12516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60340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Subscripts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196142"/>
              </p:ext>
            </p:extLst>
          </p:nvPr>
        </p:nvGraphicFramePr>
        <p:xfrm>
          <a:off x="2763463" y="2221522"/>
          <a:ext cx="6858000" cy="85344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28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-54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" name="Group 12" descr="box containing the words &quot;array name points here&quot; pointing to beginning of array">
            <a:extLst>
              <a:ext uri="{FF2B5EF4-FFF2-40B4-BE49-F238E27FC236}">
                <a16:creationId xmlns:a16="http://schemas.microsoft.com/office/drawing/2014/main" id="{7EB79ED6-4D20-4996-9C6E-9F028661E5D6}"/>
              </a:ext>
            </a:extLst>
          </p:cNvPr>
          <p:cNvGrpSpPr/>
          <p:nvPr/>
        </p:nvGrpSpPr>
        <p:grpSpPr>
          <a:xfrm>
            <a:off x="217708" y="3135923"/>
            <a:ext cx="2545755" cy="2312568"/>
            <a:chOff x="217708" y="3135923"/>
            <a:chExt cx="2545755" cy="2312568"/>
          </a:xfrm>
        </p:grpSpPr>
        <p:sp>
          <p:nvSpPr>
            <p:cNvPr id="9" name="TextBox 8"/>
            <p:cNvSpPr txBox="1"/>
            <p:nvPr/>
          </p:nvSpPr>
          <p:spPr>
            <a:xfrm>
              <a:off x="217708" y="4371273"/>
              <a:ext cx="2165978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+mn-lt"/>
                </a:rPr>
                <a:t>array name </a:t>
              </a:r>
              <a:br>
                <a:rPr lang="en-US" sz="3200" dirty="0">
                  <a:latin typeface="+mn-lt"/>
                </a:rPr>
              </a:br>
              <a:r>
                <a:rPr lang="en-US" sz="3200" dirty="0">
                  <a:latin typeface="+mn-lt"/>
                </a:rPr>
                <a:t>points here</a:t>
              </a:r>
            </a:p>
          </p:txBody>
        </p:sp>
        <p:cxnSp>
          <p:nvCxnSpPr>
            <p:cNvPr id="11" name="Straight Arrow Connector 10"/>
            <p:cNvCxnSpPr>
              <a:stCxn id="9" idx="0"/>
            </p:cNvCxnSpPr>
            <p:nvPr/>
          </p:nvCxnSpPr>
          <p:spPr>
            <a:xfrm flipV="1">
              <a:off x="1300697" y="3135923"/>
              <a:ext cx="1462766" cy="123535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822750"/>
              </p:ext>
            </p:extLst>
          </p:nvPr>
        </p:nvGraphicFramePr>
        <p:xfrm>
          <a:off x="2763463" y="3135922"/>
          <a:ext cx="6858000" cy="53340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0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3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4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5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7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" name="Group 13" descr="box containing words &quot;Each array subscript indicates the &#10;distance from the beginning&quot; with arrows pointing to subscripts&#10;">
            <a:extLst>
              <a:ext uri="{FF2B5EF4-FFF2-40B4-BE49-F238E27FC236}">
                <a16:creationId xmlns:a16="http://schemas.microsoft.com/office/drawing/2014/main" id="{F50F255A-91CD-4F8F-919E-215682B00026}"/>
              </a:ext>
            </a:extLst>
          </p:cNvPr>
          <p:cNvGrpSpPr/>
          <p:nvPr/>
        </p:nvGrpSpPr>
        <p:grpSpPr>
          <a:xfrm>
            <a:off x="5201863" y="3593122"/>
            <a:ext cx="6161706" cy="1451064"/>
            <a:chOff x="5201863" y="3593122"/>
            <a:chExt cx="6161706" cy="1451064"/>
          </a:xfrm>
        </p:grpSpPr>
        <p:sp>
          <p:nvSpPr>
            <p:cNvPr id="16" name="TextBox 15"/>
            <p:cNvSpPr txBox="1"/>
            <p:nvPr/>
          </p:nvSpPr>
          <p:spPr>
            <a:xfrm>
              <a:off x="5396523" y="3966968"/>
              <a:ext cx="596704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+mn-lt"/>
                </a:rPr>
                <a:t>Each array </a:t>
              </a:r>
              <a:r>
                <a:rPr lang="en-US" sz="3200" b="1" dirty="0">
                  <a:latin typeface="+mn-lt"/>
                </a:rPr>
                <a:t>subscript</a:t>
              </a:r>
              <a:r>
                <a:rPr lang="en-US" sz="3200" dirty="0">
                  <a:latin typeface="+mn-lt"/>
                </a:rPr>
                <a:t> indicates the </a:t>
              </a:r>
              <a:br>
                <a:rPr lang="en-US" sz="3200" dirty="0">
                  <a:latin typeface="+mn-lt"/>
                </a:rPr>
              </a:br>
              <a:r>
                <a:rPr lang="en-US" sz="3200" dirty="0">
                  <a:latin typeface="+mn-lt"/>
                </a:rPr>
                <a:t>distance from the beginning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 flipV="1">
              <a:off x="5201863" y="3593122"/>
              <a:ext cx="2590800" cy="5334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7487865" y="3593122"/>
              <a:ext cx="499458" cy="45085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03481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Subscripts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759278"/>
              </p:ext>
            </p:extLst>
          </p:nvPr>
        </p:nvGraphicFramePr>
        <p:xfrm>
          <a:off x="2700940" y="2102340"/>
          <a:ext cx="6858000" cy="85344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28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-54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687481" y="3662609"/>
            <a:ext cx="8817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n-lt"/>
              </a:rPr>
              <a:t>Consider this element, which has a value of 6.</a:t>
            </a:r>
          </a:p>
        </p:txBody>
      </p:sp>
    </p:spTree>
    <p:extLst>
      <p:ext uri="{BB962C8B-B14F-4D97-AF65-F5344CB8AC3E}">
        <p14:creationId xmlns:p14="http://schemas.microsoft.com/office/powerpoint/2010/main" val="31168746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Subscripts 3</a:t>
            </a:r>
          </a:p>
        </p:txBody>
      </p:sp>
      <p:grpSp>
        <p:nvGrpSpPr>
          <p:cNvPr id="14" name="Group 13" descr="box containing the word beginning with an arrow pointing to the beginning of the array">
            <a:extLst>
              <a:ext uri="{FF2B5EF4-FFF2-40B4-BE49-F238E27FC236}">
                <a16:creationId xmlns:a16="http://schemas.microsoft.com/office/drawing/2014/main" id="{E6877336-FA21-4F94-8626-75B5C5651494}"/>
              </a:ext>
            </a:extLst>
          </p:cNvPr>
          <p:cNvGrpSpPr/>
          <p:nvPr/>
        </p:nvGrpSpPr>
        <p:grpSpPr>
          <a:xfrm>
            <a:off x="429747" y="2971016"/>
            <a:ext cx="2238147" cy="810550"/>
            <a:chOff x="429747" y="2971016"/>
            <a:chExt cx="2238147" cy="810550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1648947" y="2971016"/>
              <a:ext cx="1018947" cy="25146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29747" y="3196791"/>
              <a:ext cx="18499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+mn-lt"/>
                </a:rPr>
                <a:t>beginning</a:t>
              </a:r>
            </a:p>
          </p:txBody>
        </p:sp>
      </p:grp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052176"/>
              </p:ext>
            </p:extLst>
          </p:nvPr>
        </p:nvGraphicFramePr>
        <p:xfrm>
          <a:off x="2700940" y="2102340"/>
          <a:ext cx="6858000" cy="85344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28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-54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Group 14" descr="Box containing the words &quot;How many other elements are between this one and the beginning of the array?&quot; with an arrow pointing to the third element&#10;">
            <a:extLst>
              <a:ext uri="{FF2B5EF4-FFF2-40B4-BE49-F238E27FC236}">
                <a16:creationId xmlns:a16="http://schemas.microsoft.com/office/drawing/2014/main" id="{9E74A3B9-65B5-4BEF-9840-608661299403}"/>
              </a:ext>
            </a:extLst>
          </p:cNvPr>
          <p:cNvGrpSpPr/>
          <p:nvPr/>
        </p:nvGrpSpPr>
        <p:grpSpPr>
          <a:xfrm>
            <a:off x="2700940" y="2955780"/>
            <a:ext cx="6735215" cy="2793869"/>
            <a:chOff x="2700940" y="2955780"/>
            <a:chExt cx="6735215" cy="2793869"/>
          </a:xfrm>
        </p:grpSpPr>
        <p:sp>
          <p:nvSpPr>
            <p:cNvPr id="8" name="TextBox 7" descr="Box containing the words &quot;How many other elements are between this one and the beginning of the array?&quot; with an arrow pointing to the third element&#10;"/>
            <p:cNvSpPr txBox="1"/>
            <p:nvPr/>
          </p:nvSpPr>
          <p:spPr>
            <a:xfrm>
              <a:off x="2700940" y="4179989"/>
              <a:ext cx="673521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+mn-lt"/>
                </a:rPr>
                <a:t>How many other elements are between this one and the </a:t>
              </a:r>
              <a:br>
                <a:rPr lang="en-US" sz="3200" dirty="0">
                  <a:latin typeface="+mn-lt"/>
                </a:rPr>
              </a:br>
              <a:r>
                <a:rPr lang="en-US" sz="3200" dirty="0">
                  <a:latin typeface="+mn-lt"/>
                </a:rPr>
                <a:t>beginning of the array?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 flipV="1">
              <a:off x="4392147" y="2955780"/>
              <a:ext cx="762000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72105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Subscripts 4</a:t>
            </a:r>
          </a:p>
        </p:txBody>
      </p:sp>
      <p:grpSp>
        <p:nvGrpSpPr>
          <p:cNvPr id="15" name="Group 14" descr="box containing the word beginning with an arrow pointing to the beginning of the array">
            <a:extLst>
              <a:ext uri="{FF2B5EF4-FFF2-40B4-BE49-F238E27FC236}">
                <a16:creationId xmlns:a16="http://schemas.microsoft.com/office/drawing/2014/main" id="{1BD1C127-E00B-4DB2-967D-D08B650ED3F2}"/>
              </a:ext>
            </a:extLst>
          </p:cNvPr>
          <p:cNvGrpSpPr/>
          <p:nvPr/>
        </p:nvGrpSpPr>
        <p:grpSpPr>
          <a:xfrm>
            <a:off x="429747" y="2621275"/>
            <a:ext cx="2238147" cy="810550"/>
            <a:chOff x="429747" y="2621275"/>
            <a:chExt cx="2238147" cy="810550"/>
          </a:xfrm>
        </p:grpSpPr>
        <p:cxnSp>
          <p:nvCxnSpPr>
            <p:cNvPr id="10" name="Straight Arrow Connector 9"/>
            <p:cNvCxnSpPr/>
            <p:nvPr/>
          </p:nvCxnSpPr>
          <p:spPr>
            <a:xfrm flipV="1">
              <a:off x="1648947" y="2621275"/>
              <a:ext cx="1018947" cy="25146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29747" y="2847050"/>
              <a:ext cx="18499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+mn-lt"/>
                </a:rPr>
                <a:t>beginning</a:t>
              </a:r>
            </a:p>
          </p:txBody>
        </p:sp>
      </p:grp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286825"/>
              </p:ext>
            </p:extLst>
          </p:nvPr>
        </p:nvGraphicFramePr>
        <p:xfrm>
          <a:off x="2700940" y="1752599"/>
          <a:ext cx="6858000" cy="85344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28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/>
                        <a:t>-54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23699"/>
              </p:ext>
            </p:extLst>
          </p:nvPr>
        </p:nvGraphicFramePr>
        <p:xfrm>
          <a:off x="2700940" y="2571065"/>
          <a:ext cx="6858000" cy="53340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endParaRPr lang="en-US" sz="2800" b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2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Group 15" descr="Box containing the words &quot;There are 2 elements between this one and the beginning of the array, so this element is at subscript 2, which is the 3rd element in the array.&quot; with an arrow pointing to the third element&#10;">
            <a:extLst>
              <a:ext uri="{FF2B5EF4-FFF2-40B4-BE49-F238E27FC236}">
                <a16:creationId xmlns:a16="http://schemas.microsoft.com/office/drawing/2014/main" id="{D1010131-07C7-4BDD-9E66-B1BF868A54D1}"/>
              </a:ext>
            </a:extLst>
          </p:cNvPr>
          <p:cNvGrpSpPr/>
          <p:nvPr/>
        </p:nvGrpSpPr>
        <p:grpSpPr>
          <a:xfrm>
            <a:off x="2158420" y="2606039"/>
            <a:ext cx="7558607" cy="3228984"/>
            <a:chOff x="2158420" y="2606039"/>
            <a:chExt cx="7558607" cy="3228984"/>
          </a:xfrm>
        </p:grpSpPr>
        <p:cxnSp>
          <p:nvCxnSpPr>
            <p:cNvPr id="9" name="Straight Arrow Connector 8"/>
            <p:cNvCxnSpPr/>
            <p:nvPr/>
          </p:nvCxnSpPr>
          <p:spPr>
            <a:xfrm flipH="1" flipV="1">
              <a:off x="4392147" y="2606039"/>
              <a:ext cx="762000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158420" y="3772920"/>
              <a:ext cx="7558607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+mn-lt"/>
                </a:rPr>
                <a:t>There are 2 elements between this one and the beginning of the array, </a:t>
              </a:r>
              <a:br>
                <a:rPr lang="en-US" sz="3200" dirty="0">
                  <a:latin typeface="+mn-lt"/>
                </a:rPr>
              </a:br>
              <a:r>
                <a:rPr lang="en-US" sz="3200" dirty="0">
                  <a:latin typeface="+mn-lt"/>
                </a:rPr>
                <a:t>so this element is at </a:t>
              </a:r>
              <a:r>
                <a:rPr lang="en-US" sz="3200" b="1" dirty="0">
                  <a:latin typeface="+mn-lt"/>
                </a:rPr>
                <a:t>subscript 2</a:t>
              </a:r>
              <a:r>
                <a:rPr lang="en-US" sz="3200" dirty="0"/>
                <a:t>, which is </a:t>
              </a:r>
              <a:r>
                <a:rPr lang="en-US" sz="3200" dirty="0">
                  <a:latin typeface="+mn-lt"/>
                </a:rPr>
                <a:t>the </a:t>
              </a:r>
              <a:r>
                <a:rPr lang="en-US" sz="3200" b="1" dirty="0">
                  <a:latin typeface="+mn-lt"/>
                </a:rPr>
                <a:t>3</a:t>
              </a:r>
              <a:r>
                <a:rPr lang="en-US" sz="3200" b="1" baseline="30000" dirty="0">
                  <a:latin typeface="+mn-lt"/>
                </a:rPr>
                <a:t>rd</a:t>
              </a:r>
              <a:r>
                <a:rPr lang="en-US" sz="3200" b="1" dirty="0">
                  <a:latin typeface="+mn-lt"/>
                </a:rPr>
                <a:t> element </a:t>
              </a:r>
              <a:r>
                <a:rPr lang="en-US" sz="3200" dirty="0">
                  <a:latin typeface="+mn-lt"/>
                </a:rPr>
                <a:t>in the array.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50844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D16E-86B5-4D47-A4A0-FF668E86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5FFB0-A9BC-4EF9-AC0B-97A163BD2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We’ll be using only the built-in array style ONLY in this class</a:t>
            </a:r>
          </a:p>
          <a:p>
            <a:pPr lvl="1"/>
            <a:r>
              <a:rPr lang="en-US" dirty="0"/>
              <a:t>Sometimes called “C style”</a:t>
            </a:r>
          </a:p>
          <a:p>
            <a:endParaRPr lang="en-US" dirty="0"/>
          </a:p>
          <a:p>
            <a:r>
              <a:rPr lang="en-US" dirty="0"/>
              <a:t>Java:	</a:t>
            </a:r>
            <a:r>
              <a:rPr lang="en-US" i="1" dirty="0"/>
              <a:t>dataType</a:t>
            </a:r>
            <a:r>
              <a:rPr lang="en-US" dirty="0"/>
              <a:t>[] </a:t>
            </a:r>
            <a:r>
              <a:rPr lang="en-US" i="1" dirty="0"/>
              <a:t>arrayName</a:t>
            </a:r>
            <a:r>
              <a:rPr lang="en-US" dirty="0"/>
              <a:t> = new </a:t>
            </a:r>
            <a:r>
              <a:rPr lang="en-US" i="1" dirty="0"/>
              <a:t>dataType</a:t>
            </a:r>
            <a:r>
              <a:rPr lang="en-US" dirty="0"/>
              <a:t>[</a:t>
            </a:r>
            <a:r>
              <a:rPr lang="en-US" i="1" dirty="0"/>
              <a:t>size</a:t>
            </a:r>
            <a:r>
              <a:rPr lang="en-US" dirty="0"/>
              <a:t>];</a:t>
            </a:r>
          </a:p>
          <a:p>
            <a:endParaRPr lang="en-US" dirty="0"/>
          </a:p>
          <a:p>
            <a:r>
              <a:rPr lang="en-US" dirty="0"/>
              <a:t>C++:		</a:t>
            </a:r>
            <a:r>
              <a:rPr lang="en-US" i="1" dirty="0"/>
              <a:t>dataType arrayName</a:t>
            </a:r>
            <a:r>
              <a:rPr lang="en-US" dirty="0"/>
              <a:t> [</a:t>
            </a:r>
            <a:r>
              <a:rPr lang="en-US" i="1" dirty="0"/>
              <a:t>size</a:t>
            </a:r>
            <a:r>
              <a:rPr lang="en-US" dirty="0"/>
              <a:t>];  or</a:t>
            </a:r>
          </a:p>
          <a:p>
            <a:r>
              <a:rPr lang="en-US" dirty="0"/>
              <a:t> 		array &lt; </a:t>
            </a:r>
            <a:r>
              <a:rPr lang="en-US" i="1" dirty="0"/>
              <a:t>data type</a:t>
            </a:r>
            <a:r>
              <a:rPr lang="en-US" dirty="0"/>
              <a:t>, </a:t>
            </a:r>
            <a:r>
              <a:rPr lang="en-US" i="1" dirty="0"/>
              <a:t>size</a:t>
            </a:r>
            <a:r>
              <a:rPr lang="en-US" dirty="0"/>
              <a:t> &gt; </a:t>
            </a:r>
            <a:r>
              <a:rPr lang="en-US" i="1" dirty="0"/>
              <a:t>arrayName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09186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D45D-D03E-4375-94DF-73F25A4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Array-Handling &amp; Other Related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35A76-B569-40E0-A056-01988B54E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</a:t>
            </a:r>
          </a:p>
          <a:p>
            <a:pPr lvl="1"/>
            <a:r>
              <a:rPr lang="en-US" dirty="0"/>
              <a:t>ArrayList, Arrays class utilities, List, Collections, etc.</a:t>
            </a:r>
          </a:p>
          <a:p>
            <a:r>
              <a:rPr lang="en-US" dirty="0"/>
              <a:t>C++</a:t>
            </a:r>
          </a:p>
          <a:p>
            <a:pPr lvl="1"/>
            <a:r>
              <a:rPr lang="en-US" dirty="0"/>
              <a:t>List, Vector, etc.</a:t>
            </a:r>
          </a:p>
          <a:p>
            <a:r>
              <a:rPr lang="en-US" dirty="0"/>
              <a:t>Classes that have some extra array-handling functionality, to make it easier for the user of the class to deal with arrays</a:t>
            </a:r>
          </a:p>
          <a:p>
            <a:r>
              <a:rPr lang="en-US" dirty="0"/>
              <a:t>Shields you (the programmer) from the implementation details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5254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7D7C-AA9E-4A7E-B464-C921FF9A9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Course…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92BBE-F4DE-4D43-B549-0A59662D6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be working with the built-in array style only!</a:t>
            </a:r>
          </a:p>
          <a:p>
            <a:r>
              <a:rPr lang="en-US" dirty="0"/>
              <a:t>C++ programmers:</a:t>
            </a:r>
          </a:p>
          <a:p>
            <a:pPr lvl="1"/>
            <a:r>
              <a:rPr lang="en-US" dirty="0"/>
              <a:t>In homework, you can declare the array using the array class, but you may not use any of its functions for accessing the elements of the array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302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Software Development Method</a:t>
            </a:r>
          </a:p>
        </p:txBody>
      </p:sp>
    </p:spTree>
    <p:extLst>
      <p:ext uri="{BB962C8B-B14F-4D97-AF65-F5344CB8AC3E}">
        <p14:creationId xmlns:p14="http://schemas.microsoft.com/office/powerpoint/2010/main" val="4338300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is Problem-Solving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Steps in The Software Development Method</a:t>
            </a:r>
          </a:p>
          <a:p>
            <a:pPr lvl="1"/>
            <a:r>
              <a:rPr lang="en-US" dirty="0"/>
              <a:t>Specify </a:t>
            </a:r>
          </a:p>
          <a:p>
            <a:pPr lvl="1"/>
            <a:r>
              <a:rPr lang="en-US" dirty="0"/>
              <a:t>Analyze </a:t>
            </a:r>
          </a:p>
          <a:p>
            <a:pPr lvl="1"/>
            <a:r>
              <a:rPr lang="en-US" dirty="0"/>
              <a:t>Design</a:t>
            </a:r>
          </a:p>
          <a:p>
            <a:pPr lvl="1"/>
            <a:r>
              <a:rPr lang="en-US" dirty="0"/>
              <a:t>Implement</a:t>
            </a:r>
          </a:p>
          <a:p>
            <a:pPr lvl="1"/>
            <a:r>
              <a:rPr lang="en-US" dirty="0"/>
              <a:t>Test and Verify</a:t>
            </a:r>
          </a:p>
          <a:p>
            <a:pPr lvl="1"/>
            <a:r>
              <a:rPr lang="en-US" dirty="0"/>
              <a:t>Maintain and Update</a:t>
            </a:r>
          </a:p>
        </p:txBody>
      </p:sp>
    </p:spTree>
    <p:extLst>
      <p:ext uri="{BB962C8B-B14F-4D97-AF65-F5344CB8AC3E}">
        <p14:creationId xmlns:p14="http://schemas.microsoft.com/office/powerpoint/2010/main" val="24840977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– Specify the Problem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the problem clearly.</a:t>
            </a:r>
          </a:p>
          <a:p>
            <a:r>
              <a:rPr lang="en-US" dirty="0"/>
              <a:t>Zero in on root problem.</a:t>
            </a:r>
          </a:p>
        </p:txBody>
      </p:sp>
    </p:spTree>
    <p:extLst>
      <p:ext uri="{BB962C8B-B14F-4D97-AF65-F5344CB8AC3E}">
        <p14:creationId xmlns:p14="http://schemas.microsoft.com/office/powerpoint/2010/main" val="37577940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– Analyze the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Identify:</a:t>
            </a:r>
          </a:p>
          <a:p>
            <a:pPr lvl="1"/>
            <a:r>
              <a:rPr lang="en-US" dirty="0"/>
              <a:t>inputs (what data you have to work with)</a:t>
            </a:r>
          </a:p>
          <a:p>
            <a:pPr lvl="1"/>
            <a:r>
              <a:rPr lang="en-US" dirty="0"/>
              <a:t>outputs (desired results)</a:t>
            </a:r>
          </a:p>
          <a:p>
            <a:pPr lvl="1"/>
            <a:r>
              <a:rPr lang="en-US" dirty="0"/>
              <a:t>any additional constraints</a:t>
            </a:r>
          </a:p>
          <a:p>
            <a:r>
              <a:rPr lang="en-US" dirty="0"/>
              <a:t>Abstraction</a:t>
            </a:r>
          </a:p>
          <a:p>
            <a:pPr lvl="1"/>
            <a:r>
              <a:rPr lang="en-US" dirty="0"/>
              <a:t>Process of modeling the problem by extracting essential variables and their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7495484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Step 3 – Design the Algorithm to Solve the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Algorithm</a:t>
            </a:r>
          </a:p>
          <a:p>
            <a:pPr lvl="1"/>
            <a:r>
              <a:rPr lang="en-US" dirty="0"/>
              <a:t>List of steps to solve the problem</a:t>
            </a:r>
          </a:p>
          <a:p>
            <a:r>
              <a:rPr lang="en-US" dirty="0"/>
              <a:t>Top-Down design (divide &amp; conquer)</a:t>
            </a:r>
          </a:p>
          <a:p>
            <a:pPr lvl="1"/>
            <a:r>
              <a:rPr lang="en-US" dirty="0"/>
              <a:t>List major steps, then break down major steps into smaller steps</a:t>
            </a:r>
          </a:p>
          <a:p>
            <a:r>
              <a:rPr lang="en-US" dirty="0"/>
              <a:t>Typical algorithm for a programming problem:</a:t>
            </a:r>
          </a:p>
          <a:p>
            <a:pPr lvl="1"/>
            <a:r>
              <a:rPr lang="en-US" dirty="0"/>
              <a:t>Get the data</a:t>
            </a:r>
          </a:p>
          <a:p>
            <a:pPr lvl="1"/>
            <a:r>
              <a:rPr lang="en-US" dirty="0"/>
              <a:t>Perform computations on the data</a:t>
            </a:r>
          </a:p>
          <a:p>
            <a:pPr lvl="1"/>
            <a:r>
              <a:rPr lang="en-US" dirty="0"/>
              <a:t>Display results</a:t>
            </a:r>
          </a:p>
        </p:txBody>
      </p:sp>
    </p:spTree>
    <p:extLst>
      <p:ext uri="{BB962C8B-B14F-4D97-AF65-F5344CB8AC3E}">
        <p14:creationId xmlns:p14="http://schemas.microsoft.com/office/powerpoint/2010/main" val="15348610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– Design the Algorithm to Solve the Problem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Stepwise refinement</a:t>
            </a:r>
          </a:p>
          <a:p>
            <a:pPr lvl="1"/>
            <a:r>
              <a:rPr lang="en-US" dirty="0"/>
              <a:t>Development of a detailed list of steps to solve a particular step in the original algorithm</a:t>
            </a:r>
          </a:p>
          <a:p>
            <a:r>
              <a:rPr lang="en-US" dirty="0"/>
              <a:t>Desk check</a:t>
            </a:r>
          </a:p>
          <a:p>
            <a:pPr lvl="1"/>
            <a:r>
              <a:rPr lang="en-US" dirty="0"/>
              <a:t>Step-by-step simulation of the computer execution of an algorithm	</a:t>
            </a:r>
          </a:p>
        </p:txBody>
      </p:sp>
    </p:spTree>
    <p:extLst>
      <p:ext uri="{BB962C8B-B14F-4D97-AF65-F5344CB8AC3E}">
        <p14:creationId xmlns:p14="http://schemas.microsoft.com/office/powerpoint/2010/main" val="20371349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Step 4 – Implement the Algorithm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the steps as a program, using a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24415081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Step 5 – Test and Verify Completed Program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program many times with different sets of test data</a:t>
            </a:r>
          </a:p>
          <a:p>
            <a:r>
              <a:rPr lang="en-US" dirty="0"/>
              <a:t>Test that program works correctly for every situation provided for in algorithm</a:t>
            </a:r>
          </a:p>
        </p:txBody>
      </p:sp>
    </p:spTree>
    <p:extLst>
      <p:ext uri="{BB962C8B-B14F-4D97-AF65-F5344CB8AC3E}">
        <p14:creationId xmlns:p14="http://schemas.microsoft.com/office/powerpoint/2010/main" val="21914398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Step 6 – Maintain and Update the Program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 previously undetected errors, modifying it as necessary</a:t>
            </a:r>
          </a:p>
          <a:p>
            <a:pPr lvl="0"/>
            <a:r>
              <a:rPr lang="en-US" dirty="0"/>
              <a:t>Caution: Failure is Part of the Process</a:t>
            </a:r>
          </a:p>
          <a:p>
            <a:pPr lvl="1"/>
            <a:r>
              <a:rPr lang="en-US" dirty="0"/>
              <a:t>The first solution may be wrong</a:t>
            </a:r>
          </a:p>
          <a:p>
            <a:pPr lvl="1"/>
            <a:r>
              <a:rPr lang="en-US" dirty="0"/>
              <a:t>Verification of results is vital</a:t>
            </a:r>
          </a:p>
        </p:txBody>
      </p:sp>
    </p:spTree>
    <p:extLst>
      <p:ext uri="{BB962C8B-B14F-4D97-AF65-F5344CB8AC3E}">
        <p14:creationId xmlns:p14="http://schemas.microsoft.com/office/powerpoint/2010/main" val="1305898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9E19-4F95-4610-BFFC-445C063A53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Structuring Your Code for this Course</a:t>
            </a:r>
          </a:p>
        </p:txBody>
      </p:sp>
    </p:spTree>
    <p:extLst>
      <p:ext uri="{BB962C8B-B14F-4D97-AF65-F5344CB8AC3E}">
        <p14:creationId xmlns:p14="http://schemas.microsoft.com/office/powerpoint/2010/main" val="391585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B83C-52B1-4B86-A2A4-B53AFD53D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Best Practices in Object-Oriented Programming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9E76D-BA07-4BA5-A2FF-9346F38B2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of classes is required</a:t>
            </a:r>
          </a:p>
          <a:p>
            <a:pPr lvl="1"/>
            <a:r>
              <a:rPr lang="en-US" dirty="0"/>
              <a:t>Separate functionality into a driver class / program and the classes it uses</a:t>
            </a:r>
          </a:p>
          <a:p>
            <a:pPr lvl="1"/>
            <a:r>
              <a:rPr lang="en-US" dirty="0"/>
              <a:t>(C++) using header files is optional, but highly encouraged (don’t forget include guards!)</a:t>
            </a:r>
          </a:p>
          <a:p>
            <a:pPr lvl="1"/>
            <a:r>
              <a:rPr lang="en-US" dirty="0"/>
              <a:t>Reusability – consider whether and how every class you write can be reused in a completely different system</a:t>
            </a:r>
          </a:p>
          <a:p>
            <a:r>
              <a:rPr lang="en-US" dirty="0"/>
              <a:t>Encapsulation</a:t>
            </a:r>
          </a:p>
          <a:p>
            <a:pPr lvl="1"/>
            <a:r>
              <a:rPr lang="en-US" dirty="0"/>
              <a:t>All attributes and behaviors of a class must be related to the purpose of that class</a:t>
            </a:r>
          </a:p>
        </p:txBody>
      </p:sp>
    </p:spTree>
    <p:extLst>
      <p:ext uri="{BB962C8B-B14F-4D97-AF65-F5344CB8AC3E}">
        <p14:creationId xmlns:p14="http://schemas.microsoft.com/office/powerpoint/2010/main" val="23325935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B83C-52B1-4B86-A2A4-B53AFD53D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Best Practices in Object-Oriented Programming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9E76D-BA07-4BA5-A2FF-9346F38B2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Information hiding</a:t>
            </a:r>
          </a:p>
          <a:p>
            <a:pPr lvl="1"/>
            <a:r>
              <a:rPr lang="en-US" dirty="0"/>
              <a:t>Use appropriate access modifiers</a:t>
            </a:r>
          </a:p>
          <a:p>
            <a:pPr lvl="1"/>
            <a:r>
              <a:rPr lang="en-US" dirty="0"/>
              <a:t>Using setters and getters is [mostly] required</a:t>
            </a:r>
          </a:p>
          <a:p>
            <a:pPr lvl="1"/>
            <a:r>
              <a:rPr lang="en-US" dirty="0"/>
              <a:t>Localize the effects of changes! (This is something we’ll be practicing.)</a:t>
            </a:r>
          </a:p>
          <a:p>
            <a:r>
              <a:rPr lang="en-US" dirty="0"/>
              <a:t>Other techniques for preventing errors:</a:t>
            </a:r>
          </a:p>
          <a:p>
            <a:pPr lvl="1"/>
            <a:r>
              <a:rPr lang="en-US" dirty="0"/>
              <a:t>Use enhanced for (Java) or range-based for (C++) loops when appropriate</a:t>
            </a:r>
          </a:p>
          <a:p>
            <a:pPr lvl="1"/>
            <a:r>
              <a:rPr lang="en-US" dirty="0"/>
              <a:t>If a function / method performs all or some of the actions needed by another function / method, call that function / method rather than duplicate its code</a:t>
            </a:r>
          </a:p>
          <a:p>
            <a:pPr lvl="1"/>
            <a:r>
              <a:rPr lang="en-US" dirty="0"/>
              <a:t>Use try-catch blocks where appropriate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250947"/>
      </p:ext>
    </p:extLst>
  </p:cSld>
  <p:clrMapOvr>
    <a:masterClrMapping/>
  </p:clrMapOvr>
</p:sld>
</file>

<file path=ppt/theme/theme1.xml><?xml version="1.0" encoding="utf-8"?>
<a:theme xmlns:a="http://schemas.openxmlformats.org/drawingml/2006/main" name="269 2021SP theme 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69 2021SP theme 3" id="{E185BD1D-4680-4623-9F8E-BFA362B64CC9}" vid="{95449149-EAEC-4712-BB25-E2D9497F7A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269 2021SP theme 3</Template>
  <TotalTime>1336</TotalTime>
  <Words>3100</Words>
  <Application>Microsoft Office PowerPoint</Application>
  <PresentationFormat>Widescreen</PresentationFormat>
  <Paragraphs>469</Paragraphs>
  <Slides>66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269 2021SP theme 3</vt:lpstr>
      <vt:lpstr>Object-Oriented Programming Concepts Review</vt:lpstr>
      <vt:lpstr>Topics</vt:lpstr>
      <vt:lpstr>Object-Oriented Programming Concepts</vt:lpstr>
      <vt:lpstr>Class = Reusable Software Component</vt:lpstr>
      <vt:lpstr>Components of a Class</vt:lpstr>
      <vt:lpstr>Difference between Class and Object</vt:lpstr>
      <vt:lpstr>Reuse</vt:lpstr>
      <vt:lpstr>OOP Concept 1: Encapsulation &amp; Information Hiding </vt:lpstr>
      <vt:lpstr>Encapsulation</vt:lpstr>
      <vt:lpstr>Encapsulation &amp; Information Hiding </vt:lpstr>
      <vt:lpstr>Access Modifiers</vt:lpstr>
      <vt:lpstr>Set and Get Functions / Methods</vt:lpstr>
      <vt:lpstr>Refactoring</vt:lpstr>
      <vt:lpstr>OOP Concept 2: Abstraction</vt:lpstr>
      <vt:lpstr>OOP Concept 2: Abstraction  </vt:lpstr>
      <vt:lpstr>OOP Concept 2: Abstraction </vt:lpstr>
      <vt:lpstr>OOP Concept 3: Inheritance</vt:lpstr>
      <vt:lpstr>Inheritance is Software Reuse</vt:lpstr>
      <vt:lpstr>Benefits of Inheritance</vt:lpstr>
      <vt:lpstr>Creating a New Class using Inheritance</vt:lpstr>
      <vt:lpstr>Derived Class / Subclass</vt:lpstr>
      <vt:lpstr>Relationships between Classes</vt:lpstr>
      <vt:lpstr>OOP Concept 4: Polymorphism</vt:lpstr>
      <vt:lpstr>Polymorphism  </vt:lpstr>
      <vt:lpstr>Review of Variables</vt:lpstr>
      <vt:lpstr>Definition of a Variable</vt:lpstr>
      <vt:lpstr>Variables Store Data</vt:lpstr>
      <vt:lpstr>C++ Examples of Declaring &amp; Initializing Variables</vt:lpstr>
      <vt:lpstr>C++ Examples Declaring &amp; Initializing Variables</vt:lpstr>
      <vt:lpstr>C++ Storing Data in Pointer Type Variable – Object is Not The Variable</vt:lpstr>
      <vt:lpstr>C++ Pointer Variables are not the Same as Objects – Step 1</vt:lpstr>
      <vt:lpstr>C++ Pointer Variables are not the Same as Objects – Step 2</vt:lpstr>
      <vt:lpstr>C++ Pointer Variables are not the Same as Objects – Step 1 Again</vt:lpstr>
      <vt:lpstr>C++ Pointer Variables are not the Same as Objects – Step 2 Again</vt:lpstr>
      <vt:lpstr>C++ Pointer Variables are not the Same as Objects – Step 3</vt:lpstr>
      <vt:lpstr>Java – Examples of Declaring &amp; Initializing Variables</vt:lpstr>
      <vt:lpstr>Java – Storing Data in Reference Variable – Object is Not The Variable</vt:lpstr>
      <vt:lpstr>Java – Storing Data in a Reference Type Variable Examples</vt:lpstr>
      <vt:lpstr>Java – Reference Variables are not the Same as Objects – Step 1</vt:lpstr>
      <vt:lpstr>Java – Reference Variables are not the Same as Objects – Step 1 Again</vt:lpstr>
      <vt:lpstr>Java – Reference Variables are not the Same as Objects – Step 2</vt:lpstr>
      <vt:lpstr>Java – Reference Variables are not the Same as Objects – Step 3</vt:lpstr>
      <vt:lpstr>Arrays</vt:lpstr>
      <vt:lpstr>Data Structures are Groups of Data</vt:lpstr>
      <vt:lpstr>Arrays are Static Data Structures</vt:lpstr>
      <vt:lpstr>Array Elements</vt:lpstr>
      <vt:lpstr>Array Subscripts</vt:lpstr>
      <vt:lpstr>More on Subscripts</vt:lpstr>
      <vt:lpstr>More on Subscripts 2</vt:lpstr>
      <vt:lpstr>More on Subscripts 3</vt:lpstr>
      <vt:lpstr>More on Subscripts 4</vt:lpstr>
      <vt:lpstr>Creating Arrays</vt:lpstr>
      <vt:lpstr>Array-Handling &amp; Other Related Classes</vt:lpstr>
      <vt:lpstr>In This Course…</vt:lpstr>
      <vt:lpstr>The Software Development Method</vt:lpstr>
      <vt:lpstr>Programming is Problem-Solving</vt:lpstr>
      <vt:lpstr>Step 1 – Specify the Problem Requirements</vt:lpstr>
      <vt:lpstr>Step 2 – Analyze the Problem</vt:lpstr>
      <vt:lpstr>Step 3 – Design the Algorithm to Solve the Problem</vt:lpstr>
      <vt:lpstr>Step 3 – Design the Algorithm to Solve the Problem 2</vt:lpstr>
      <vt:lpstr>Step 4 – Implement the Algorithm</vt:lpstr>
      <vt:lpstr>Step 5 – Test and Verify Completed Program</vt:lpstr>
      <vt:lpstr>Step 6 – Maintain and Update the Program</vt:lpstr>
      <vt:lpstr>Structuring Your Code for this Course</vt:lpstr>
      <vt:lpstr>Remember Best Practices in Object-Oriented Programming 1</vt:lpstr>
      <vt:lpstr>Remember Best Practices in Object-Oriented Programming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Complexity Analysis</dc:title>
  <dc:creator>Pam</dc:creator>
  <cp:lastModifiedBy>Dunn, Pamela</cp:lastModifiedBy>
  <cp:revision>104</cp:revision>
  <dcterms:created xsi:type="dcterms:W3CDTF">2012-07-21T20:19:48Z</dcterms:created>
  <dcterms:modified xsi:type="dcterms:W3CDTF">2022-10-16T17:06:24Z</dcterms:modified>
</cp:coreProperties>
</file>